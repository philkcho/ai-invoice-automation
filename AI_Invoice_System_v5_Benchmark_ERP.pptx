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algun Gothic"/>
              </a:defRPr>
            </a:pPr>
            <a:r>
              <a:t>AI 인보이스 자동화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AA"/>
                </a:solidFill>
                <a:latin typeface="Malgun Gothic"/>
              </a:defRPr>
            </a:pPr>
            <a:r>
              <a:t>경영진 보고  |  비용 절감 · 정확도 향상 · 업무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algun Gothic"/>
              </a:defRPr>
            </a:pPr>
            <a:r>
              <a:t>Claude AI 기반 · 자체 구축 · 완전 자동화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algun Gothic"/>
              </a:defRPr>
            </a:pPr>
            <a:r>
              <a:t>2026.03  |  Finance Innovation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수작업 인보이스 처리, 더 이상 감당할 수 없습니다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2377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algun Gothic"/>
              </a:defRPr>
            </a:pPr>
            <a:r>
              <a:t>🕐  수작업 데이터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21945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인보이스당 평균 15분 소요</a:t>
            </a:r>
            <a:br/>
            <a:r>
              <a:t>월 500건 기준 125시간 낭비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560320" cy="2377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algun Gothic"/>
              </a:defRPr>
            </a:pPr>
            <a:r>
              <a:t>⚠️  높은 오류율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67712"/>
            <a:ext cx="21945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수동 입력 오류율 4~8%</a:t>
            </a:r>
            <a:br/>
            <a:r>
              <a:t>중복 결제·잘못된 금액 빈발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560320" cy="2377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algun Gothic"/>
              </a:defRPr>
            </a:pPr>
            <a:r>
              <a:t>📋  승인 지연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21945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종이 기반 승인 평균 7일</a:t>
            </a:r>
            <a:br/>
            <a:r>
              <a:t>할인 기회 상실·공급업체 불만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2560320" cy="2377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algun Gothic"/>
              </a:defRPr>
            </a:pPr>
            <a:r>
              <a:t>🔒  감사 취약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267712"/>
            <a:ext cx="21945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변경 이력 추적 불가</a:t>
            </a:r>
            <a:br/>
            <a:r>
              <a:t>컴플라이언스 리스크 상존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algun Gothic"/>
              </a:defRPr>
            </a:pPr>
            <a:r>
              <a:t>💰  연간 추정 손실: 인건비 ₩2.4억 + 오류 비용 ₩8,000만 + 할인 상실 ₩5,000만 = ₩3.7억+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00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AI가 인보이스를 읽고, 검증하고, 처리합니다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828800" cy="12801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1. 수신</a:t>
            </a:r>
            <a:br/>
            <a:br/>
            <a:r>
              <a:t>이메일/업로드</a:t>
            </a:r>
            <a:br/>
            <a:r>
              <a:t>자동 감지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31719" y="2514600"/>
            <a:ext cx="457200" cy="27432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2011680"/>
            <a:ext cx="1828800" cy="12801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2. AI OCR</a:t>
            </a:r>
            <a:br/>
            <a:br/>
            <a:r>
              <a:t>Claude Vision</a:t>
            </a:r>
            <a:br/>
            <a:r>
              <a:t>데이터 추출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17719" y="2514600"/>
            <a:ext cx="457200" cy="27432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2011680"/>
            <a:ext cx="1828800" cy="12801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3. 검증</a:t>
            </a:r>
            <a:br/>
            <a:br/>
            <a:r>
              <a:t>3단계 자동</a:t>
            </a:r>
            <a:br/>
            <a:r>
              <a:t>교차 검증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03719" y="2514600"/>
            <a:ext cx="457200" cy="27432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2011680"/>
            <a:ext cx="1828800" cy="12801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4. 승인</a:t>
            </a:r>
            <a:br/>
            <a:br/>
            <a:r>
              <a:t>규칙 기반</a:t>
            </a:r>
            <a:br/>
            <a:r>
              <a:t>자동 승인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89719" y="2514600"/>
            <a:ext cx="457200" cy="27432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0" y="2011680"/>
            <a:ext cx="1828800" cy="12801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5. 결제</a:t>
            </a:r>
            <a:br/>
            <a:br/>
            <a:r>
              <a:t>ERP 연동</a:t>
            </a:r>
            <a:br/>
            <a:r>
              <a:t>자동 처리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303520" cy="16459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FF"/>
                </a:solidFill>
                <a:latin typeface="Malgun Gothic"/>
              </a:defRPr>
            </a:pPr>
            <a:r>
              <a:t>핵심 기술 스택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79392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• Claude AI (Anthropic) — 최신 멀티모달 LLM</a:t>
            </a:r>
            <a:br/>
            <a:r>
              <a:t>• FastAPI + PostgreSQL 백엔드</a:t>
            </a:r>
            <a:br/>
            <a:r>
              <a:t>• React 대시보드</a:t>
            </a:r>
            <a:br/>
            <a:r>
              <a:t>• Docker 컨테이너 배포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303520" cy="16459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algun Gothic"/>
              </a:defRPr>
            </a:pPr>
            <a:r>
              <a:t>목표 성과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79392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• 처리 시간: 15분 → 30초 (97% 감소)</a:t>
            </a:r>
            <a:br/>
            <a:r>
              <a:t>• 정확도: 92% → 99.5%</a:t>
            </a:r>
            <a:br/>
            <a:r>
              <a:t>• 승인 주기: 7일 → 당일</a:t>
            </a:r>
            <a:br/>
            <a:r>
              <a:t>• 연간 절감: ₩3.7억+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00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AI OCR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Claude Vision: 기존 OCR과 차원이 다른 문서 이해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20116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algun Gothic"/>
              </a:defRPr>
            </a:pPr>
            <a:r>
              <a:t>🧠  멀티모달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텍스트뿐 아니라 표, 도장,</a:t>
            </a:r>
            <a:br/>
            <a:r>
              <a:t>레이아웃까지 시각적 이해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560320" cy="20116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algun Gothic"/>
              </a:defRPr>
            </a:pPr>
            <a:r>
              <a:t>🌍  다국어 인보이스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67712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한국어·영어·일본어</a:t>
            </a:r>
            <a:br/>
            <a:r>
              <a:t>혼합 문서 자동 인식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560320" cy="20116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algun Gothic"/>
              </a:defRPr>
            </a:pPr>
            <a:r>
              <a:t>📊  구조화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비정형 PDF → 정형 JSON</a:t>
            </a:r>
            <a:br/>
            <a:r>
              <a:t>필드별 신뢰도 점수 제공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2560320" cy="20116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algun Gothic"/>
              </a:defRPr>
            </a:pPr>
            <a:r>
              <a:t>🔄  지속 학습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267712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오류 피드백 반영</a:t>
            </a:r>
            <a:br/>
            <a:r>
              <a:t>지속적 정확도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7A"/>
                </a:solidFill>
                <a:latin typeface="Malgun Gothic"/>
              </a:defRPr>
            </a:pPr>
            <a:r>
              <a:t>📈  기존 OCR(Tesseract) 정확도 78% → Claude Vision 99.5% — 오류 95% 감소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3단계 검증으로 오류·사기를 원천 차단합니다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383280" cy="25603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385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FF"/>
                </a:solidFill>
                <a:latin typeface="Malgun Gothic"/>
              </a:defRPr>
            </a:pPr>
            <a:r>
              <a:t>1단계: 포맷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• 필수 필드 존재 여부</a:t>
            </a:r>
            <a:br/>
            <a:r>
              <a:t>• 날짜/금액 형식 확인</a:t>
            </a:r>
            <a:br/>
            <a:r>
              <a:t>• 사업자등록번호 유효성</a:t>
            </a:r>
            <a:br/>
            <a:r>
              <a:t>• 세금 계산 정합성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40" y="2926080"/>
            <a:ext cx="457200" cy="27432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79" y="1828800"/>
            <a:ext cx="3383280" cy="25603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9385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algun Gothic"/>
              </a:defRPr>
            </a:pPr>
            <a:r>
              <a:t>2단계: 비즈니스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267712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• PO 매칭 (3-Way Match)</a:t>
            </a:r>
            <a:br/>
            <a:r>
              <a:t>• 단가/수량 계약 대조</a:t>
            </a:r>
            <a:br/>
            <a:r>
              <a:t>• 중복 인보이스 탐지</a:t>
            </a:r>
            <a:br/>
            <a:r>
              <a:t>• 벤더 마스터 검증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26679" y="2926080"/>
            <a:ext cx="457200" cy="27432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1828800"/>
            <a:ext cx="3383280" cy="25603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9385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algun Gothic"/>
              </a:defRPr>
            </a:pPr>
            <a:r>
              <a:t>3단계: AI 이상 탐지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267712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• 과거 패턴 분석</a:t>
            </a:r>
            <a:br/>
            <a:r>
              <a:t>• 금액 이상치 감지</a:t>
            </a:r>
            <a:br/>
            <a:r>
              <a:t>• 벤더 행동 분석</a:t>
            </a:r>
            <a:br/>
            <a:r>
              <a:t>• 사기 위험 스코어링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Malgun Gothic"/>
              </a:defRPr>
            </a:pPr>
            <a:r>
              <a:t>🎯  검증 통과율 85% (자동 처리) | 15% 사람 검토 → 최종 정확도 99.5%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00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CORE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경영진이 주목해야 할 4가지 핵심 가치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2194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algun Gothic"/>
              </a:defRPr>
            </a:pPr>
            <a:r>
              <a:t>💰  비용 절감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연간 ₩3.7억 이상 절감</a:t>
            </a:r>
            <a:br/>
            <a:r>
              <a:t>ROI 18개월 내 달성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560320" cy="2194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7A"/>
                </a:solidFill>
                <a:latin typeface="Malgun Gothic"/>
              </a:defRPr>
            </a:pPr>
            <a:r>
              <a:t>🎯  정확도 향상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67712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99.5% 처리 정확도</a:t>
            </a:r>
            <a:br/>
            <a:r>
              <a:t>오류 비용 95% 감소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560320" cy="2194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algun Gothic"/>
              </a:defRPr>
            </a:pPr>
            <a:r>
              <a:t>⚡  속도 혁신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처리 시간 97% 단축</a:t>
            </a:r>
            <a:br/>
            <a:r>
              <a:t>15분 → 30초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2560320" cy="2194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algun Gothic"/>
              </a:defRPr>
            </a:pPr>
            <a:r>
              <a:t>🛡️  리스크 제거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267712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완전한 감사 추적</a:t>
            </a:r>
            <a:br/>
            <a:r>
              <a:t>컴플라이언스 자동화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00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업무 프로세스가 이렇게 바뀝니다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D4D"/>
                </a:solidFill>
                <a:latin typeface="Malgun Gothic"/>
              </a:defRPr>
            </a:pPr>
            <a:r>
              <a:t>AS-IS (현재)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5029200" cy="68580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585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algun Gothic"/>
              </a:defRPr>
            </a:pPr>
            <a:r>
              <a:t>인보이스 수신 → 수작업 분류 (30분)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8775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5029200" cy="68580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815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algun Gothic"/>
              </a:defRPr>
            </a:pPr>
            <a:r>
              <a:t>데이터 수동 입력 (15분/건)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1071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5029200" cy="68580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0448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algun Gothic"/>
              </a:defRPr>
            </a:pPr>
            <a:r>
              <a:t>엑셀 대조 검증 (20분/건)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3367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5029200" cy="68580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274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algun Gothic"/>
              </a:defRPr>
            </a:pPr>
            <a:r>
              <a:t>종이 결재 승인 (평균 7일)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5663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548640" y="5440680"/>
            <a:ext cx="5029200" cy="68580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504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algun Gothic"/>
              </a:defRPr>
            </a:pPr>
            <a:r>
              <a:t>수동 ERP 입력 &amp; 결제 (10분)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7959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87A"/>
                </a:solidFill>
                <a:latin typeface="Malgun Gothic"/>
              </a:defRPr>
            </a:pPr>
            <a:r>
              <a:t>TO-BE (도입 후)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148840"/>
            <a:ext cx="5029200" cy="685800"/>
          </a:xfrm>
          <a:prstGeom prst="roundRect">
            <a:avLst/>
          </a:prstGeom>
          <a:solidFill>
            <a:srgbClr val="0A3A2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2585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이메일 자동 감지 &amp; AI 분류 (즉시)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58775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6400800" y="2971800"/>
            <a:ext cx="5029200" cy="685800"/>
          </a:xfrm>
          <a:prstGeom prst="roundRect">
            <a:avLst/>
          </a:prstGeom>
          <a:solidFill>
            <a:srgbClr val="0A3A2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0815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Claude Vision OCR 추출 (5초)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1071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6400800" y="3794760"/>
            <a:ext cx="5029200" cy="685800"/>
          </a:xfrm>
          <a:prstGeom prst="roundRect">
            <a:avLst/>
          </a:prstGeom>
          <a:solidFill>
            <a:srgbClr val="0A3A2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90448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3단계 AI 자동 검증 (10초)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23367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400800" y="4617720"/>
            <a:ext cx="5029200" cy="685800"/>
          </a:xfrm>
          <a:prstGeom prst="roundRect">
            <a:avLst/>
          </a:prstGeom>
          <a:solidFill>
            <a:srgbClr val="0A3A2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7274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규칙 기반 자동 승인 (즉시)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05663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</a:p>
        </p:txBody>
      </p:sp>
      <p:sp>
        <p:nvSpPr>
          <p:cNvPr id="33" name="Rounded Rectangle 32"/>
          <p:cNvSpPr/>
          <p:nvPr/>
        </p:nvSpPr>
        <p:spPr>
          <a:xfrm>
            <a:off x="6400800" y="5440680"/>
            <a:ext cx="5029200" cy="685800"/>
          </a:xfrm>
          <a:prstGeom prst="roundRect">
            <a:avLst/>
          </a:prstGeom>
          <a:solidFill>
            <a:srgbClr val="0A3A2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5504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ERP 자동 연동 &amp; 결제 (즉시)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87959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</a:p>
        </p:txBody>
      </p:sp>
      <p:sp>
        <p:nvSpPr>
          <p:cNvPr id="36" name="Right Arrow 35"/>
          <p:cNvSpPr/>
          <p:nvPr/>
        </p:nvSpPr>
        <p:spPr>
          <a:xfrm>
            <a:off x="5669280" y="3474720"/>
            <a:ext cx="548640" cy="36576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00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도입 후 기대되는 정량적 효과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18288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CCCCC"/>
                </a:solidFill>
                <a:latin typeface="Malgun Gothic"/>
              </a:defRPr>
            </a:pPr>
            <a:r>
              <a:t>처리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  <a:latin typeface="Malgun Gothic"/>
              </a:defRPr>
            </a:pPr>
            <a:r>
              <a:t>97%↓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15분 → 30초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560320" cy="18288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00C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CCCCC"/>
                </a:solidFill>
                <a:latin typeface="Malgun Gothic"/>
              </a:defRPr>
            </a:pPr>
            <a:r>
              <a:t>정확도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87A"/>
                </a:solidFill>
                <a:latin typeface="Malgun Gothic"/>
              </a:defRPr>
            </a:pPr>
            <a:r>
              <a:t>8%p↑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92% → 99.5%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560320" cy="18288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CCCCC"/>
                </a:solidFill>
                <a:latin typeface="Malgun Gothic"/>
              </a:defRPr>
            </a:pPr>
            <a:r>
              <a:t>승인 주기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  <a:latin typeface="Malgun Gothic"/>
              </a:defRPr>
            </a:pPr>
            <a:r>
              <a:t>85%↓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7일 → 당일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828800"/>
            <a:ext cx="2560320" cy="18288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CCCCC"/>
                </a:solidFill>
                <a:latin typeface="Malgun Gothic"/>
              </a:defRPr>
            </a:pPr>
            <a:r>
              <a:t>연간 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Malgun Gothic"/>
              </a:defRPr>
            </a:pPr>
            <a:r>
              <a:t>₩3.7억 절감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Malgun Gothic"/>
              </a:defRPr>
            </a:pPr>
            <a:r>
              <a:t>₩4.2억 → ₩0.5억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Malgun Gothic"/>
              </a:defRPr>
            </a:pPr>
            <a:r>
              <a:t>📊  ROI 달성 시점: 도입 후 18개월  |  5년 누적 절감: ₩15억+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00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APPROVAL &amp;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자동 승인 규칙과 결제 프로세스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16459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7A"/>
                </a:solidFill>
                <a:latin typeface="Malgun Gothic"/>
              </a:defRPr>
            </a:pPr>
            <a:r>
              <a:t>자동 승인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2194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검증 통과 + ₩100만 미만</a:t>
            </a:r>
            <a:br/>
            <a:r>
              <a:t>→ 즉시 자동 승인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560320" cy="16459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algun Gothic"/>
              </a:defRPr>
            </a:pPr>
            <a:r>
              <a:t>1단계 승인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67712"/>
            <a:ext cx="2194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₩100만 ~ ₩1,000만</a:t>
            </a:r>
            <a:br/>
            <a:r>
              <a:t>→ 팀장 승인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560320" cy="16459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algun Gothic"/>
              </a:defRPr>
            </a:pPr>
            <a:r>
              <a:t>2단계 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2194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₩1,000만 ~ ₩1억</a:t>
            </a:r>
            <a:br/>
            <a:r>
              <a:t>→ 팀장 + 부서장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2560320" cy="16459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algun Gothic"/>
              </a:defRPr>
            </a:pPr>
            <a:r>
              <a:t>3단계 승인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267712"/>
            <a:ext cx="2194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₩1억 이상</a:t>
            </a:r>
            <a:br/>
            <a:r>
              <a:t>→ 팀장 + 부서장 + CFO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10972800" cy="14630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4164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FF"/>
                </a:solidFill>
                <a:latin typeface="Malgun Gothic"/>
              </a:defRPr>
            </a:pPr>
            <a:r>
              <a:t>결제 자동화 흐름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70832"/>
            <a:ext cx="10607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승인 완료 → 결제 스케줄 생성 → 은행 API 연동 → 결제 실행 → 상태 업데이트 → ERP 반영</a:t>
            </a:r>
            <a:br/>
            <a:br/>
            <a:r>
              <a:t>• 조기 결제 할인 자동 감지 (2/10 Net 30 등)</a:t>
            </a:r>
            <a:br/>
            <a:r>
              <a:t>• 결제 배치 최적화 (주 2회 → 자금 효율 극대화)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시장 솔루션 대비 자체 구축이 최적인 이유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7132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463040"/>
                <a:gridCol w="91440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솔루션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연간 비용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AI OCR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커스터마이즈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데이터 통제</a:t>
                      </a:r>
                    </a:p>
                  </a:txBody>
                  <a:tcPr>
                    <a:solidFill>
                      <a:srgbClr val="007A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Coupa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SaaS</a:t>
                      </a:r>
                    </a:p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(SAP 인수)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$50K~$200K+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제한적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낮음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클라우드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BILL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SaaS</a:t>
                      </a:r>
                    </a:p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(SMB 타겟)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$20K~$80K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기본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낮음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클라우드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Stampli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SaaS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$15K~$50K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중간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중간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클라우드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Rossum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SaaS</a:t>
                      </a:r>
                    </a:p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(유럽 기반)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$20K~$60K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높음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중간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클라우드</a:t>
                      </a:r>
                    </a:p>
                  </a:txBody>
                  <a:tcPr>
                    <a:solidFill>
                      <a:srgbClr val="24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자사 시스템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자체 구축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인프라만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최상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(Claude)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완전 맞춤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온프레미스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완전 통제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72400" y="1737360"/>
            <a:ext cx="3749039" cy="9144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0" y="184708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algun Gothic"/>
              </a:defRPr>
            </a:pPr>
            <a:r>
              <a:t>💰 비용 절감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2176272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SaaS 라이선스 비용 제거</a:t>
            </a:r>
            <a:br/>
            <a:r>
              <a:t>인프라 비용만으로 운영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788920"/>
            <a:ext cx="3749039" cy="9144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89864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7A"/>
                </a:solidFill>
                <a:latin typeface="Malgun Gothic"/>
              </a:defRPr>
            </a:pPr>
            <a:r>
              <a:t>🔧 완전 맞춤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3227832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사내 프로세스 100% 반영</a:t>
            </a:r>
            <a:br/>
            <a:r>
              <a:t>규칙·워크플로 자유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840479"/>
            <a:ext cx="3749039" cy="9144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3950207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algun Gothic"/>
              </a:defRPr>
            </a:pPr>
            <a:r>
              <a:t>🧠 최신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4279391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Claude AI (최신 모델) 탑재</a:t>
            </a:r>
            <a:br/>
            <a:r>
              <a:t>경쟁사 대비 우위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892040"/>
            <a:ext cx="3749039" cy="9144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500176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algun Gothic"/>
              </a:defRPr>
            </a:pPr>
            <a:r>
              <a:t>🔒 데이터 주권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5330952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자사 서버 운영, 외부 유출 제로</a:t>
            </a:r>
            <a:br/>
            <a:r>
              <a:t>컴플라이언스 완전 충족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00C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ERP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AI Agent가 처리하고, ERP가 실행합니다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1645920" cy="14630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📨</a:t>
            </a:r>
            <a:br/>
            <a:r>
              <a:t>인보이스</a:t>
            </a:r>
            <a:br/>
            <a:r>
              <a:t>수신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57400" y="2377440"/>
            <a:ext cx="457200" cy="27432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51760" y="1600200"/>
            <a:ext cx="5943600" cy="1920240"/>
          </a:xfrm>
          <a:prstGeom prst="roundRect">
            <a:avLst/>
          </a:prstGeom>
          <a:solidFill>
            <a:srgbClr val="152545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627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Malgun Gothic"/>
              </a:defRPr>
            </a:pPr>
            <a:r>
              <a:t>🤖 AI Agent 자율 처리 영역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011680"/>
            <a:ext cx="1188720" cy="1097280"/>
          </a:xfrm>
          <a:prstGeom prst="roundRect">
            <a:avLst/>
          </a:prstGeom>
          <a:solidFill>
            <a:srgbClr val="0A3A5A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>
              <a:defRPr sz="1000" b="1">
                <a:solidFill>
                  <a:srgbClr val="00D4AA"/>
                </a:solidFill>
                <a:latin typeface="Malgun Gothic"/>
              </a:defRPr>
            </a:pPr>
            <a:r>
              <a:t>OCR</a:t>
            </a:r>
            <a:br/>
            <a:r>
              <a:t>추출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41648" y="2423160"/>
            <a:ext cx="182880" cy="18288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2011680"/>
            <a:ext cx="1188720" cy="1097280"/>
          </a:xfrm>
          <a:prstGeom prst="roundRect">
            <a:avLst/>
          </a:prstGeom>
          <a:solidFill>
            <a:srgbClr val="0A3A5A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>
              <a:defRPr sz="1000" b="1">
                <a:solidFill>
                  <a:srgbClr val="00D4AA"/>
                </a:solidFill>
                <a:latin typeface="Malgun Gothic"/>
              </a:defRPr>
            </a:pPr>
            <a:r>
              <a:t>자동</a:t>
            </a:r>
            <a:br/>
            <a:r>
              <a:t>분류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8968" y="2423160"/>
            <a:ext cx="182880" cy="18288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0" y="2011680"/>
            <a:ext cx="1188720" cy="1097280"/>
          </a:xfrm>
          <a:prstGeom prst="roundRect">
            <a:avLst/>
          </a:prstGeom>
          <a:solidFill>
            <a:srgbClr val="0A3A5A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>
              <a:defRPr sz="1000" b="1">
                <a:solidFill>
                  <a:srgbClr val="00D4AA"/>
                </a:solidFill>
                <a:latin typeface="Malgun Gothic"/>
              </a:defRPr>
            </a:pPr>
            <a:r>
              <a:t>3단계</a:t>
            </a:r>
            <a:br/>
            <a:r>
              <a:t>검증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76288" y="2423160"/>
            <a:ext cx="182880" cy="18288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86600" y="2011680"/>
            <a:ext cx="1188720" cy="1097280"/>
          </a:xfrm>
          <a:prstGeom prst="roundRect">
            <a:avLst/>
          </a:prstGeom>
          <a:solidFill>
            <a:srgbClr val="0A3A5A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>
              <a:defRPr sz="1000" b="1">
                <a:solidFill>
                  <a:srgbClr val="00D4AA"/>
                </a:solidFill>
                <a:latin typeface="Malgun Gothic"/>
              </a:defRPr>
            </a:pPr>
            <a:r>
              <a:t>이상</a:t>
            </a:r>
            <a:br/>
            <a:r>
              <a:t>탐지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86800" y="2377440"/>
            <a:ext cx="457200" cy="27432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0" y="1828800"/>
            <a:ext cx="2286000" cy="1463040"/>
          </a:xfrm>
          <a:prstGeom prst="roundRect">
            <a:avLst/>
          </a:prstGeom>
          <a:solidFill>
            <a:srgbClr val="1A3A2A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>
              <a:defRPr sz="1100" b="1">
                <a:solidFill>
                  <a:srgbClr val="00C87A"/>
                </a:solidFill>
                <a:latin typeface="Malgun Gothic"/>
              </a:defRPr>
            </a:pPr>
            <a:r>
              <a:t>🏢</a:t>
            </a:r>
            <a:br/>
            <a:r>
              <a:t>ERP 연동</a:t>
            </a:r>
            <a:br/>
            <a:r>
              <a:t>자동 전기(Posting)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Malgun Gothic"/>
              </a:defRPr>
            </a:pPr>
            <a:r>
              <a:t>⚡ 판단 불가 시에만 사람에게 에스컬레이션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지원 ERP 시스템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80"/>
            <a:ext cx="2560320" cy="640080"/>
          </a:xfrm>
          <a:prstGeom prst="roundRect">
            <a:avLst/>
          </a:prstGeom>
          <a:solidFill>
            <a:srgbClr val="1A2A1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07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7A"/>
                </a:solidFill>
                <a:latin typeface="Malgun Gothic"/>
              </a:defRPr>
            </a:pPr>
            <a:r>
              <a:t>SAP S/4HANA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36592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대기업 표준 ERP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297680"/>
            <a:ext cx="2560320" cy="640080"/>
          </a:xfrm>
          <a:prstGeom prst="roundRect">
            <a:avLst/>
          </a:prstGeom>
          <a:solidFill>
            <a:srgbClr val="1A2A1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4407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7A"/>
                </a:solidFill>
                <a:latin typeface="Malgun Gothic"/>
              </a:defRPr>
            </a:pPr>
            <a:r>
              <a:t>Oracle ERP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736592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클라우드 기반 ERP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297680"/>
            <a:ext cx="2560320" cy="640080"/>
          </a:xfrm>
          <a:prstGeom prst="roundRect">
            <a:avLst/>
          </a:prstGeom>
          <a:solidFill>
            <a:srgbClr val="1A2A1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407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7A"/>
                </a:solidFill>
                <a:latin typeface="Malgun Gothic"/>
              </a:defRPr>
            </a:pPr>
            <a:r>
              <a:t>NetSuite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36592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중견기업 통합 ERP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4297680"/>
            <a:ext cx="2560320" cy="640080"/>
          </a:xfrm>
          <a:prstGeom prst="roundRect">
            <a:avLst/>
          </a:prstGeom>
          <a:solidFill>
            <a:srgbClr val="1A2A1A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4407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7A"/>
                </a:solidFill>
                <a:latin typeface="Malgun Gothic"/>
              </a:defRPr>
            </a:pPr>
            <a:r>
              <a:t>MS Dynamics 365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4736592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마이크로소프트 생태계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ERP 연계 핵심 효과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86400"/>
            <a:ext cx="2560320" cy="7772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596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algun Gothic"/>
              </a:defRPr>
            </a:pPr>
            <a:r>
              <a:t>이중 입력 제거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AI 처리 결과 → ERP 자동 전기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5486400"/>
            <a:ext cx="2560320" cy="7772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5596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7A"/>
                </a:solidFill>
                <a:latin typeface="Malgun Gothic"/>
              </a:defRPr>
            </a:pPr>
            <a:r>
              <a:t>실시간 동기화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9253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승인·결제 상태 양방향 동기화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5486400"/>
            <a:ext cx="2560320" cy="7772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596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algun Gothic"/>
              </a:defRPr>
            </a:pPr>
            <a:r>
              <a:t>마스터 데이터 통합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9253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벤더·계정코드·세금 자동 매핑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5486400"/>
            <a:ext cx="2560320" cy="7772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5596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algun Gothic"/>
              </a:defRPr>
            </a:pPr>
            <a:r>
              <a:t>리포트 통합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9253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ERP 기존 리포트에 AI 데이터 반영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00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확장 가능한 마이크로서비스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1828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FF"/>
                </a:solidFill>
                <a:latin typeface="Malgun Gothic"/>
              </a:defRPr>
            </a:pPr>
            <a:r>
              <a:t>프론트엔드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React 18 + TypeScript</a:t>
            </a:r>
            <a:br/>
            <a:r>
              <a:t>Tailwind CSS + Chart.js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560320" cy="1828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algun Gothic"/>
              </a:defRPr>
            </a:pPr>
            <a:r>
              <a:t>API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67712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FastAPI + JWT Auth</a:t>
            </a:r>
            <a:br/>
            <a:r>
              <a:t>Rate Limiting + CORS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560320" cy="1828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algun Gothic"/>
              </a:defRPr>
            </a:pPr>
            <a:r>
              <a:t>AI 엔진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67712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Claude API + OCR Pipeline</a:t>
            </a:r>
            <a:br/>
            <a:r>
              <a:t>3단계 검증 엔진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828800"/>
            <a:ext cx="2560320" cy="1828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7A"/>
                </a:solidFill>
                <a:latin typeface="Malgun Gothic"/>
              </a:defRPr>
            </a:pPr>
            <a:r>
              <a:t>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67712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PostgreSQL + Redis</a:t>
            </a:r>
            <a:br/>
            <a:r>
              <a:t>S3 파일 스토리지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10972800" cy="13716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245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FF"/>
                </a:solidFill>
                <a:latin typeface="Malgun Gothic"/>
              </a:defRPr>
            </a:pPr>
            <a:r>
              <a:t>인프라 &amp; 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53712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Docker 컨테이너 | Kubernetes 오케스트레이션 | CI/CD (GitHub Actions)</a:t>
            </a:r>
            <a:br/>
            <a:r>
              <a:t>Prometheus + Grafana 모니터링 | ELK 로깅 | 자동 스케일링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엔터프라이즈급 보안과 컴플라이언스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2377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D4D"/>
                </a:solidFill>
                <a:latin typeface="Malgun Gothic"/>
              </a:defRPr>
            </a:pPr>
            <a:r>
              <a:t>🔐  데이터 암호화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21945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AES-256 저장 암호화</a:t>
            </a:r>
            <a:br/>
            <a:r>
              <a:t>TLS 1.3 전송 암호화</a:t>
            </a:r>
            <a:br/>
            <a:r>
              <a:t>KMS 키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560320" cy="2377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D4D"/>
                </a:solidFill>
                <a:latin typeface="Malgun Gothic"/>
              </a:defRPr>
            </a:pPr>
            <a:r>
              <a:t>👤 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67712"/>
            <a:ext cx="21945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RBAC 역할 기반 제어</a:t>
            </a:r>
            <a:br/>
            <a:r>
              <a:t>MFA 다중 인증</a:t>
            </a:r>
            <a:br/>
            <a:r>
              <a:t>SSO 통합 (SAML/OIDC)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560320" cy="2377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D4D"/>
                </a:solidFill>
                <a:latin typeface="Malgun Gothic"/>
              </a:defRPr>
            </a:pPr>
            <a:r>
              <a:t>📝  감사 추적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21945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모든 변경 100% 이력 기록</a:t>
            </a:r>
            <a:br/>
            <a:r>
              <a:t>위변조 방지 로그</a:t>
            </a:r>
            <a:br/>
            <a:r>
              <a:t>실시간 알림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2560320" cy="2377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D4D"/>
                </a:solidFill>
                <a:latin typeface="Malgun Gothic"/>
              </a:defRPr>
            </a:pPr>
            <a:r>
              <a:t>✅  컴플라이언스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267712"/>
            <a:ext cx="21945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전자문서법 준수</a:t>
            </a:r>
            <a:br/>
            <a:r>
              <a:t>SOX 내부통제 지원</a:t>
            </a:r>
            <a:br/>
            <a:r>
              <a:t>GDPR 데이터 보호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00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6개월 개발 로드맵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32004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FF"/>
                </a:solidFill>
                <a:latin typeface="Malgun Gothic"/>
              </a:defRPr>
            </a:pPr>
            <a:r>
              <a:t>Phase 1</a:t>
            </a:r>
            <a:br/>
            <a:r>
              <a:t>M1-M2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Malgun Gothic"/>
              </a:defRPr>
            </a:pPr>
            <a:r>
              <a:t>기반 구축</a:t>
            </a:r>
            <a:br/>
            <a:br/>
            <a:r>
              <a:t>• 백엔드 API</a:t>
            </a:r>
            <a:br/>
            <a:r>
              <a:t>• 인증/권한</a:t>
            </a:r>
            <a:br/>
            <a:r>
              <a:t>• DB 설계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63240" y="3200400"/>
            <a:ext cx="457200" cy="27432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37560" y="1828800"/>
            <a:ext cx="2560320" cy="32004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20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Malgun Gothic"/>
              </a:defRPr>
            </a:pPr>
            <a:r>
              <a:t>Phase 2</a:t>
            </a:r>
            <a:br/>
            <a:r>
              <a:t>M2-M3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6517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Malgun Gothic"/>
              </a:defRPr>
            </a:pPr>
            <a:r>
              <a:t>AI 엔진</a:t>
            </a:r>
            <a:br/>
            <a:br/>
            <a:r>
              <a:t>• Claude OCR 연동</a:t>
            </a:r>
            <a:br/>
            <a:r>
              <a:t>• 검증 엔진</a:t>
            </a:r>
            <a:br/>
            <a:r>
              <a:t>• 파이프라인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43600" y="3200400"/>
            <a:ext cx="457200" cy="27432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560320" cy="32004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00C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7A"/>
                </a:solidFill>
                <a:latin typeface="Malgun Gothic"/>
              </a:defRPr>
            </a:pPr>
            <a:r>
              <a:t>Phase 3</a:t>
            </a:r>
            <a:br/>
            <a:r>
              <a:t>M3-M4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Malgun Gothic"/>
              </a:defRPr>
            </a:pPr>
            <a:r>
              <a:t>업무 자동화</a:t>
            </a:r>
            <a:br/>
            <a:br/>
            <a:r>
              <a:t>• 승인 워크플로</a:t>
            </a:r>
            <a:br/>
            <a:r>
              <a:t>• ERP 연동</a:t>
            </a:r>
            <a:br/>
            <a:r>
              <a:t>• 대시보드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23960" y="3200400"/>
            <a:ext cx="457200" cy="274320"/>
          </a:xfrm>
          <a:prstGeom prst="right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98280" y="1828800"/>
            <a:ext cx="2560320" cy="32004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920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Malgun Gothic"/>
              </a:defRPr>
            </a:pPr>
            <a:r>
              <a:t>Phase 4</a:t>
            </a:r>
            <a:br/>
            <a:r>
              <a:t>M5-M6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6517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Malgun Gothic"/>
              </a:defRPr>
            </a:pPr>
            <a:r>
              <a:t>고도화</a:t>
            </a:r>
            <a:br/>
            <a:br/>
            <a:r>
              <a:t>• AI 학습 최적화</a:t>
            </a:r>
            <a:br/>
            <a:r>
              <a:t>• 성능 튜닝</a:t>
            </a:r>
            <a:br/>
            <a:r>
              <a:t>• 운영 안정화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00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경쟁사가 따라올 수 없는 우리만의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27432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algun Gothic"/>
              </a:defRPr>
            </a:pPr>
            <a:r>
              <a:t>🧠  Claude AI 독점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2194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• 최신 멀티모달 AI 모델</a:t>
            </a:r>
            <a:br/>
            <a:r>
              <a:t>• 경쟁사 OCR 대비 압도적 정확도</a:t>
            </a:r>
            <a:br/>
            <a:r>
              <a:t>• 한국어 인보이스 특화 튜닝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560320" cy="27432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7A"/>
                </a:solidFill>
                <a:latin typeface="Malgun Gothic"/>
              </a:defRPr>
            </a:pPr>
            <a:r>
              <a:t>🏗️  완전 자체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67712"/>
            <a:ext cx="2194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• SaaS 종속 없음, 소스코드 100% 소유</a:t>
            </a:r>
            <a:br/>
            <a:r>
              <a:t>• 사내 규정 완벽 반영</a:t>
            </a:r>
            <a:br/>
            <a:r>
              <a:t>• 무제한 확장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560320" cy="27432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Malgun Gothic"/>
              </a:defRPr>
            </a:pPr>
            <a:r>
              <a:t>🤖  AI Agent 자율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2194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• 단순 OCR이 아닌 판단하는 AI</a:t>
            </a:r>
            <a:br/>
            <a:r>
              <a:t>• 이상 탐지·사기 방지 내장</a:t>
            </a:r>
            <a:br/>
            <a:r>
              <a:t>• 에스컬레이션 자동 판단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2560320" cy="27432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Malgun Gothic"/>
              </a:defRPr>
            </a:pPr>
            <a:r>
              <a:t>🔄  엔드투엔드 자동화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267712"/>
            <a:ext cx="2194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• 수신→추출→검증→승인→결제→ERP</a:t>
            </a:r>
            <a:br/>
            <a:r>
              <a:t>• 전 과정 무인 운영 가능</a:t>
            </a:r>
            <a:br/>
            <a:r>
              <a:t>• 실시간 대시보드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65760"/>
          </a:xfrm>
          <a:prstGeom prst="rect">
            <a:avLst/>
          </a:prstGeom>
          <a:solidFill>
            <a:srgbClr val="00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데이터 모델 — 핵심 테이블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2926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FF"/>
                </a:solidFill>
                <a:latin typeface="Malgun Gothic"/>
              </a:defRPr>
            </a:pPr>
            <a:r>
              <a:t>invoices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2194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인보이스 원장</a:t>
            </a:r>
            <a:br/>
            <a:br/>
            <a:r>
              <a:t>• invoice_number, vendor_id</a:t>
            </a:r>
            <a:br/>
            <a:r>
              <a:t>• amount, tax, currency</a:t>
            </a:r>
            <a:br/>
            <a:r>
              <a:t>• status, due_date</a:t>
            </a:r>
            <a:br/>
            <a:r>
              <a:t>• ocr_confidence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560320" cy="2926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FF"/>
                </a:solidFill>
                <a:latin typeface="Malgun Gothic"/>
              </a:defRPr>
            </a:pPr>
            <a:r>
              <a:t>vendors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67712"/>
            <a:ext cx="2194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벤더 마스터</a:t>
            </a:r>
            <a:br/>
            <a:br/>
            <a:r>
              <a:t>• company_name, tax_id</a:t>
            </a:r>
            <a:br/>
            <a:r>
              <a:t>• bank_account</a:t>
            </a:r>
            <a:br/>
            <a:r>
              <a:t>• payment_terms</a:t>
            </a:r>
            <a:br/>
            <a:r>
              <a:t>• risk_score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560320" cy="2926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FF"/>
                </a:solidFill>
                <a:latin typeface="Malgun Gothic"/>
              </a:defRPr>
            </a:pPr>
            <a:r>
              <a:t>verifications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2194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검증 이력</a:t>
            </a:r>
            <a:br/>
            <a:br/>
            <a:r>
              <a:t>• invoice_id, step (1/2/3)</a:t>
            </a:r>
            <a:br/>
            <a:r>
              <a:t>• result, confidence</a:t>
            </a:r>
            <a:br/>
            <a:r>
              <a:t>• error_details</a:t>
            </a:r>
            <a:br/>
            <a:r>
              <a:t>• verified_by (AI/Human)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2560320" cy="2926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FF"/>
                </a:solidFill>
                <a:latin typeface="Malgun Gothic"/>
              </a:defRPr>
            </a:pPr>
            <a:r>
              <a:t>approvals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267712"/>
            <a:ext cx="2194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8E8"/>
                </a:solidFill>
                <a:latin typeface="Malgun Gothic"/>
              </a:defRPr>
            </a:pPr>
            <a:r>
              <a:t>승인 워크플로</a:t>
            </a:r>
            <a:br/>
            <a:br/>
            <a:r>
              <a:t>• invoice_id, approver_id</a:t>
            </a:r>
            <a:br/>
            <a:r>
              <a:t>• level, status</a:t>
            </a:r>
            <a:br/>
            <a:r>
              <a:t>• approved_at</a:t>
            </a:r>
            <a:br/>
            <a:r>
              <a:t>• comments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Malgun Gothic"/>
              </a:defRPr>
            </a:pPr>
            <a:r>
              <a:t>🗃️  PostgreSQL 16 | 파티셔닝 (월별) | Row-Level Security | 전문 감사 로그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Malgun Gothic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algun Gothic"/>
              </a:defRPr>
            </a:pPr>
            <a:r>
              <a:t>AI 인보이스 자동화 시스템에 대해 궁금한 점을 질문해 주세요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114800"/>
            <a:ext cx="2103120" cy="36576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algun Gothic"/>
              </a:defRPr>
            </a:pPr>
            <a:r>
              <a:t>Finance Innovation Team  |  AI-Powered Invoice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