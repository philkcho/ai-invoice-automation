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4688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</a:rPr>
              <a:t>인보이스 처리 혁신 전략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D4A843"/>
                </a:solidFill>
                <a:latin typeface="Malgun Gothic"/>
                <a:ea typeface="Malgun Gothic"/>
              </a:rPr>
              <a:t>AI 기반 자동화로 연간 ₩3.7억 절감 및 처리 시간 97% 단축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0E0E0"/>
                </a:solidFill>
                <a:latin typeface="Malgun Gothic"/>
                <a:ea typeface="Malgun Gothic"/>
              </a:rPr>
              <a:t>2026년 3월  |  전략 기획팀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371600"/>
            <a:ext cx="4114800" cy="4114800"/>
          </a:xfrm>
          <a:prstGeom prst="ellipse">
            <a:avLst/>
          </a:prstGeom>
          <a:solidFill>
            <a:srgbClr val="25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0" y="2103120"/>
            <a:ext cx="2743200" cy="2743200"/>
          </a:xfrm>
          <a:prstGeom prst="ellipse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수작업 인보이스 처리로 연간 ₩3.7억이 낭비되고 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25603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0392B"/>
                </a:solidFill>
                <a:latin typeface="Malgun Gothic"/>
                <a:ea typeface="Malgun Gothic"/>
              </a:rPr>
              <a:t>&gt;&gt;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C0392B"/>
                </a:solidFill>
                <a:latin typeface="Malgun Gothic"/>
                <a:ea typeface="Malgun Gothic"/>
              </a:rPr>
              <a:t>45분/건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처리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수작업 데이터 입력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검증에 평균 45분 소요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23444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234440"/>
            <a:ext cx="25603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0392B"/>
                </a:solidFill>
                <a:latin typeface="Malgun Gothic"/>
                <a:ea typeface="Malgun Gothic"/>
              </a:rPr>
              <a:t>!!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737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C0392B"/>
                </a:solidFill>
                <a:latin typeface="Malgun Gothic"/>
                <a:ea typeface="Malgun Gothic"/>
              </a:rPr>
              <a:t>12.5%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오류율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4688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수동 입력 시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평균 오류 발생률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23444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234440"/>
            <a:ext cx="2560320" cy="4572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2E6CA4"/>
                </a:solidFill>
                <a:latin typeface="Malgun Gothic"/>
                <a:ea typeface="Malgun Gothic"/>
              </a:rPr>
              <a:t>##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737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2E6CA4"/>
                </a:solidFill>
                <a:latin typeface="Malgun Gothic"/>
                <a:ea typeface="Malgun Gothic"/>
              </a:rPr>
              <a:t>2,400건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월 처리량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4688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3명의 담당자가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월 처리하는 인보이스 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123444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1234440"/>
            <a:ext cx="25603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0392B"/>
                </a:solidFill>
                <a:latin typeface="Malgun Gothic"/>
                <a:ea typeface="Malgun Gothic"/>
              </a:rPr>
              <a:t>$$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737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C0392B"/>
                </a:solidFill>
                <a:latin typeface="Malgun Gothic"/>
                <a:ea typeface="Malgun Gothic"/>
              </a:rPr>
              <a:t>₩4.2억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연간 비용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4688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인건비+IT유지보수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+오류 처리 비용 합계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160520"/>
            <a:ext cx="10972800" cy="731520"/>
          </a:xfrm>
          <a:prstGeom prst="roundRect">
            <a:avLst>
              <a:gd name="adj" fmla="val 15000"/>
            </a:avLst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Malgun Gothic"/>
                <a:ea typeface="Malgun Gothic"/>
              </a:rPr>
              <a:t>연간 총 손실: ₩3.7억  =  인건비 ₩2.5억  +  오류 처리 ₩0.8억  +  기회 비용 ₩0.4억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AI 기반 5단계 자동화로 처리 시간을 97% 단축합니다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8" name="Chevron 7"/>
          <p:cNvSpPr/>
          <p:nvPr/>
        </p:nvSpPr>
        <p:spPr>
          <a:xfrm>
            <a:off x="457200" y="1600200"/>
            <a:ext cx="2011680" cy="914400"/>
          </a:xfrm>
          <a:prstGeom prst="chevron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1. 수신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이메일/스캔
자동 수집</a:t>
            </a:r>
          </a:p>
        </p:txBody>
      </p:sp>
      <p:sp>
        <p:nvSpPr>
          <p:cNvPr id="10" name="Chevron 9"/>
          <p:cNvSpPr/>
          <p:nvPr/>
        </p:nvSpPr>
        <p:spPr>
          <a:xfrm>
            <a:off x="2697480" y="1600200"/>
            <a:ext cx="2011680" cy="914400"/>
          </a:xfrm>
          <a:prstGeom prst="chevron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2. 인식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Claude Vision
AI 추출</a:t>
            </a:r>
          </a:p>
        </p:txBody>
      </p:sp>
      <p:sp>
        <p:nvSpPr>
          <p:cNvPr id="12" name="Chevron 11"/>
          <p:cNvSpPr/>
          <p:nvPr/>
        </p:nvSpPr>
        <p:spPr>
          <a:xfrm>
            <a:off x="4937760" y="1600200"/>
            <a:ext cx="2011680" cy="914400"/>
          </a:xfrm>
          <a:prstGeom prst="chevron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3.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3단계
자동 검증</a:t>
            </a:r>
          </a:p>
        </p:txBody>
      </p:sp>
      <p:sp>
        <p:nvSpPr>
          <p:cNvPr id="14" name="Chevron 13"/>
          <p:cNvSpPr/>
          <p:nvPr/>
        </p:nvSpPr>
        <p:spPr>
          <a:xfrm>
            <a:off x="7178040" y="1600200"/>
            <a:ext cx="2011680" cy="914400"/>
          </a:xfrm>
          <a:prstGeom prst="chevron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4. 승인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규칙 기반
자동 결재</a:t>
            </a:r>
          </a:p>
        </p:txBody>
      </p:sp>
      <p:sp>
        <p:nvSpPr>
          <p:cNvPr id="16" name="Chevron 15"/>
          <p:cNvSpPr/>
          <p:nvPr/>
        </p:nvSpPr>
        <p:spPr>
          <a:xfrm>
            <a:off x="9418320" y="1600200"/>
            <a:ext cx="2011680" cy="914400"/>
          </a:xfrm>
          <a:prstGeom prst="chevron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5. 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ERP 자동
전표 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1188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2160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Malgun Gothic"/>
                <a:ea typeface="Malgun Gothic"/>
              </a:rPr>
              <a:t>처리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2E8B57"/>
                </a:solidFill>
                <a:latin typeface="Malgun Gothic"/>
                <a:ea typeface="Malgun Gothic"/>
              </a:rPr>
              <a:t>45분 → 1.5분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2511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E8B57"/>
                </a:solidFill>
                <a:latin typeface="Malgun Gothic"/>
                <a:ea typeface="Malgun Gothic"/>
              </a:rPr>
              <a:t>(97% 단축)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1188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72160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Malgun Gothic"/>
                <a:ea typeface="Malgun Gothic"/>
              </a:rPr>
              <a:t>오류율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9776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2E8B57"/>
                </a:solidFill>
                <a:latin typeface="Malgun Gothic"/>
                <a:ea typeface="Malgun Gothic"/>
              </a:rPr>
              <a:t>12.5% → 0.3%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2511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E8B57"/>
                </a:solidFill>
                <a:latin typeface="Malgun Gothic"/>
                <a:ea typeface="Malgun Gothic"/>
              </a:rPr>
              <a:t>(97.6% 감소)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361188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72160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Malgun Gothic"/>
                <a:ea typeface="Malgun Gothic"/>
              </a:rPr>
              <a:t>자동화율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9776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2E6CA4"/>
                </a:solidFill>
                <a:latin typeface="Malgun Gothic"/>
                <a:ea typeface="Malgun Gothic"/>
              </a:rPr>
              <a:t>0% → 94%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32511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E6CA4"/>
                </a:solidFill>
                <a:latin typeface="Malgun Gothic"/>
                <a:ea typeface="Malgun Gothic"/>
              </a:rPr>
              <a:t>(완전 자동화)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Claude Vision은 기존 OCR 대비 오류를 95% 감소시킵니다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4</a:t>
            </a:r>
          </a:p>
        </p:txBody>
      </p:sp>
      <p:pic>
        <p:nvPicPr>
          <p:cNvPr id="8" name="Picture 7" descr="ppt_chart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85800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325880"/>
            <a:ext cx="3840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325880"/>
            <a:ext cx="3840480" cy="4572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46304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2E6CA4"/>
                </a:solidFill>
                <a:latin typeface="Malgun Gothic"/>
                <a:ea typeface="Malgun Gothic"/>
              </a:rPr>
              <a:t>99.5%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874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문자 인식 정확도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1945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한국어/영문/일문 혼합 문서도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정확하게 인식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651760"/>
            <a:ext cx="3840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2651760"/>
            <a:ext cx="3840480" cy="4572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78892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2E6CA4"/>
                </a:solidFill>
                <a:latin typeface="Malgun Gothic"/>
                <a:ea typeface="Malgun Gothic"/>
              </a:rPr>
              <a:t>96%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200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테이블 구조 인식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52044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복잡한 인보이스 테이블 구조를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자동으로 파싱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977640"/>
            <a:ext cx="3840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3977640"/>
            <a:ext cx="3840480" cy="4572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41148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2E6CA4"/>
                </a:solidFill>
                <a:latin typeface="Malgun Gothic"/>
                <a:ea typeface="Malgun Gothic"/>
              </a:rPr>
              <a:t>3배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526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처리 속도 향상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8463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기존 OCR 대비 3배 빠른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실시간 처리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3단계 검증으로 오류와 사기를 원천 차단합니다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3474720" cy="54864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2763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E6CA4"/>
                </a:solidFill>
                <a:latin typeface="Malgun Gothic"/>
                <a:ea typeface="Malgun Gothic"/>
              </a:rPr>
              <a:t>1단계: 데이터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필수 필드 완전성 확인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데이터 형식/범위 검증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사업자번호 유효성 체크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날짜/금액 형식 표준화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47472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60" y="1554480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62763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D4A843"/>
                </a:solidFill>
                <a:latin typeface="Malgun Gothic"/>
                <a:ea typeface="Malgun Gothic"/>
              </a:rPr>
              <a:t>2단계: 비즈니스 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거래처 마스터 데이터 매칭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계약 단가 vs 청구 단가 비교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수량 x 단가 = 합계 교차검증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중복 인보이스 탐지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2588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5320" y="155448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62763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Malgun Gothic"/>
                <a:ea typeface="Malgun Gothic"/>
              </a:rPr>
              <a:t>3단계: AI 이상 탐지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317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과거 거래 패턴 이탈 감지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비정상 금액 자동 플래그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사기 패턴 머신러닝 탐지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실시간 리스크 스코어링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4가지 핵심 가치가 투자 대비 확실한 수익을 보장합니다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60604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06040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2E8B57"/>
                </a:solidFill>
                <a:latin typeface="Malgun Gothic"/>
                <a:ea typeface="Malgun Gothic"/>
              </a:rPr>
              <a:t>$$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2E8B57"/>
                </a:solidFill>
                <a:latin typeface="Malgun Gothic"/>
                <a:ea typeface="Malgun Gothic"/>
              </a:rPr>
              <a:t>₩3.7억/년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비용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인건비 88% 절감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오류 처리 비용 95% 감소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운영 효율 극대화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325880"/>
            <a:ext cx="260604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325880"/>
            <a:ext cx="2606040" cy="4572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4630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2E6CA4"/>
                </a:solidFill>
                <a:latin typeface="Malgun Gothic"/>
                <a:ea typeface="Malgun Gothic"/>
              </a:rPr>
              <a:t>&gt;&gt;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8288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2E6CA4"/>
                </a:solidFill>
                <a:latin typeface="Malgun Gothic"/>
                <a:ea typeface="Malgun Gothic"/>
              </a:rPr>
              <a:t>97% 단축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속도 혁신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56032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45분 → 1.5분 처리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실시간 ERP 반영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24/7 자동 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325880"/>
            <a:ext cx="260604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325880"/>
            <a:ext cx="2606040" cy="4572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630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1A3A5F"/>
                </a:solidFill>
                <a:latin typeface="Malgun Gothic"/>
                <a:ea typeface="Malgun Gothic"/>
              </a:rPr>
              <a:t>!!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8288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1A3A5F"/>
                </a:solidFill>
                <a:latin typeface="Malgun Gothic"/>
                <a:ea typeface="Malgun Gothic"/>
              </a:rPr>
              <a:t>99.5%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정확도 향상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56032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AI 기반 데이터 추출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3단계 자동 검증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오류율 0.3% 이하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325880"/>
            <a:ext cx="260604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60" y="1325880"/>
            <a:ext cx="260604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14630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D4A843"/>
                </a:solidFill>
                <a:latin typeface="Malgun Gothic"/>
                <a:ea typeface="Malgun Gothic"/>
              </a:rPr>
              <a:t>##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18288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D4A843"/>
                </a:solidFill>
                <a:latin typeface="Malgun Gothic"/>
                <a:ea typeface="Malgun Gothic"/>
              </a:rPr>
              <a:t>무제한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확장성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56032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클라우드 기반 확장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다국어 인보이스 지원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신규 거래처 즉시 적용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업무 프로세스가 근본적으로 바뀝니다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94960" cy="50292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</a:rPr>
              <a:t>AS-IS  |  현재 프로세스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90195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0392B"/>
                </a:solidFill>
                <a:latin typeface="Malgun Gothic"/>
                <a:ea typeface="Malgun Gothic"/>
              </a:rPr>
              <a:t>수동 수신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이메일 확인 → 첨부파일 다운로드 → 폴더 분류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615184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0392B"/>
                </a:solidFill>
                <a:latin typeface="Malgun Gothic"/>
                <a:ea typeface="Malgun Gothic"/>
              </a:rPr>
              <a:t>수동 입력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인보이스 내용을 ERP에 하나씩 수동 입력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5526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0392B"/>
                </a:solidFill>
                <a:latin typeface="Malgun Gothic"/>
                <a:ea typeface="Malgun Gothic"/>
              </a:rPr>
              <a:t>수동 검증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담당자가 육안으로 데이터 확인 및 교차 검증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04164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6849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0392B"/>
                </a:solidFill>
                <a:latin typeface="Malgun Gothic"/>
                <a:ea typeface="Malgun Gothic"/>
              </a:rPr>
              <a:t>수동 결재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결재 라인별 이메일/메신저 요청 → 대기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7548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81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0392B"/>
                </a:solidFill>
                <a:latin typeface="Malgun Gothic"/>
                <a:ea typeface="Malgun Gothic"/>
              </a:rPr>
              <a:t>수동 전기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승인 후 ERP에 수동 전표 생성 및 입력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89320" y="2926080"/>
            <a:ext cx="548640" cy="91440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0" y="1188720"/>
            <a:ext cx="5029200" cy="502920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2801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</a:rPr>
              <a:t>TO-BE  |  AI 자동화 프로세스</a:t>
            </a:r>
          </a:p>
        </p:txBody>
      </p:sp>
      <p:sp>
        <p:nvSpPr>
          <p:cNvPr id="23" name="Oval 22"/>
          <p:cNvSpPr/>
          <p:nvPr/>
        </p:nvSpPr>
        <p:spPr>
          <a:xfrm>
            <a:off x="6812280" y="1901952"/>
            <a:ext cx="365760" cy="3657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828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8B57"/>
                </a:solidFill>
                <a:latin typeface="Malgun Gothic"/>
                <a:ea typeface="Malgun Gothic"/>
              </a:rPr>
              <a:t>자동 수신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이메일 모니터링 → 자동 분류 → 큐 등록</a:t>
            </a:r>
          </a:p>
        </p:txBody>
      </p:sp>
      <p:sp>
        <p:nvSpPr>
          <p:cNvPr id="25" name="Oval 24"/>
          <p:cNvSpPr/>
          <p:nvPr/>
        </p:nvSpPr>
        <p:spPr>
          <a:xfrm>
            <a:off x="6812280" y="2615184"/>
            <a:ext cx="365760" cy="3657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54203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8B57"/>
                </a:solidFill>
                <a:latin typeface="Malgun Gothic"/>
                <a:ea typeface="Malgun Gothic"/>
              </a:rPr>
              <a:t>AI 인식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Claude Vision이 자동으로 데이터 추출</a:t>
            </a:r>
          </a:p>
        </p:txBody>
      </p:sp>
      <p:sp>
        <p:nvSpPr>
          <p:cNvPr id="27" name="Oval 26"/>
          <p:cNvSpPr/>
          <p:nvPr/>
        </p:nvSpPr>
        <p:spPr>
          <a:xfrm>
            <a:off x="6812280" y="3328416"/>
            <a:ext cx="365760" cy="3657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25526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8B57"/>
                </a:solidFill>
                <a:latin typeface="Malgun Gothic"/>
                <a:ea typeface="Malgun Gothic"/>
              </a:rPr>
              <a:t>자동 검증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3단계 자동 검증 + AI 이상 탐지</a:t>
            </a:r>
          </a:p>
        </p:txBody>
      </p:sp>
      <p:sp>
        <p:nvSpPr>
          <p:cNvPr id="29" name="Oval 28"/>
          <p:cNvSpPr/>
          <p:nvPr/>
        </p:nvSpPr>
        <p:spPr>
          <a:xfrm>
            <a:off x="6812280" y="4041648"/>
            <a:ext cx="365760" cy="3657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96849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8B57"/>
                </a:solidFill>
                <a:latin typeface="Malgun Gothic"/>
                <a:ea typeface="Malgun Gothic"/>
              </a:rPr>
              <a:t>자동 승인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금액별 자동 승인 규칙 적용</a:t>
            </a:r>
          </a:p>
        </p:txBody>
      </p:sp>
      <p:sp>
        <p:nvSpPr>
          <p:cNvPr id="31" name="Oval 30"/>
          <p:cNvSpPr/>
          <p:nvPr/>
        </p:nvSpPr>
        <p:spPr>
          <a:xfrm>
            <a:off x="6812280" y="4754880"/>
            <a:ext cx="365760" cy="3657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68172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8B57"/>
                </a:solidFill>
                <a:latin typeface="Malgun Gothic"/>
                <a:ea typeface="Malgun Gothic"/>
              </a:rPr>
              <a:t>자동 전기</a:t>
            </a:r>
          </a:p>
          <a:p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ERP API 연동 자동 전표 생성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도입 후 연간 ₩3.7억 절감, 18개월 내 ROI 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88720"/>
            <a:ext cx="2560320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2E8B57"/>
                </a:solidFill>
                <a:latin typeface="Malgun Gothic"/>
                <a:ea typeface="Malgun Gothic"/>
              </a:rPr>
              <a:t>₩3.7억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연간 절감액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1887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188720"/>
            <a:ext cx="2560320" cy="4572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3258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2E6CA4"/>
                </a:solidFill>
                <a:latin typeface="Malgun Gothic"/>
                <a:ea typeface="Malgun Gothic"/>
              </a:rPr>
              <a:t>18개월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ROI 달성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1887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188720"/>
            <a:ext cx="25603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3258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D4A843"/>
                </a:solidFill>
                <a:latin typeface="Malgun Gothic"/>
                <a:ea typeface="Malgun Gothic"/>
              </a:rPr>
              <a:t>340%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투자 회수율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1887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188720"/>
            <a:ext cx="2560320" cy="4572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3258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1A3A5F"/>
                </a:solidFill>
                <a:latin typeface="Malgun Gothic"/>
                <a:ea typeface="Malgun Gothic"/>
              </a:rPr>
              <a:t>88%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운영비 절감</a:t>
            </a:r>
          </a:p>
        </p:txBody>
      </p:sp>
      <p:pic>
        <p:nvPicPr>
          <p:cNvPr id="24" name="Picture 23" descr="ppt_chart_donu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34640"/>
            <a:ext cx="10515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금액별 자동 승인 규칙으로 결재 병목을 제거합니다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2560320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Malgun Gothic"/>
                <a:ea typeface="Malgun Gothic"/>
              </a:rPr>
              <a:t>₩100만 미만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D2D2D"/>
                </a:solidFill>
                <a:latin typeface="Malgun Gothic"/>
                <a:ea typeface="Malgun Gothic"/>
              </a:rPr>
              <a:t>자동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Malgun Gothic"/>
                <a:ea typeface="Malgun Gothic"/>
              </a:rPr>
              <a:t>AI 검증 통과 시
즉시 자동 승인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7248" y="2240280"/>
            <a:ext cx="146304" cy="36576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51460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514600"/>
            <a:ext cx="2560320" cy="54864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6517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2E6CA4"/>
                </a:solidFill>
                <a:latin typeface="Malgun Gothic"/>
                <a:ea typeface="Malgun Gothic"/>
              </a:rPr>
              <a:t>₩100만~₩500만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260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D2D2D"/>
                </a:solidFill>
                <a:latin typeface="Malgun Gothic"/>
                <a:ea typeface="Malgun Gothic"/>
              </a:rPr>
              <a:t>팀장 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337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Malgun Gothic"/>
                <a:ea typeface="Malgun Gothic"/>
              </a:rPr>
              <a:t>팀장 1인 결재
(모바일 알림)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70448" y="3063240"/>
            <a:ext cx="146304" cy="36576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333756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3337560"/>
            <a:ext cx="256032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474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D4A843"/>
                </a:solidFill>
                <a:latin typeface="Malgun Gothic"/>
                <a:ea typeface="Malgun Gothic"/>
              </a:rPr>
              <a:t>₩500만~₩2,000만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749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D2D2D"/>
                </a:solidFill>
                <a:latin typeface="Malgun Gothic"/>
                <a:ea typeface="Malgun Gothic"/>
              </a:rPr>
              <a:t>부서장 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160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Malgun Gothic"/>
                <a:ea typeface="Malgun Gothic"/>
              </a:rPr>
              <a:t>팀장 → 부서장
순차 결재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13648" y="3886200"/>
            <a:ext cx="146304" cy="36576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78240" y="416052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A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0" y="4160520"/>
            <a:ext cx="2560320" cy="54864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4297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3A5F"/>
                </a:solidFill>
                <a:latin typeface="Malgun Gothic"/>
                <a:ea typeface="Malgun Gothic"/>
              </a:rPr>
              <a:t>₩2,000만 이상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5720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D2D2D"/>
                </a:solidFill>
                <a:latin typeface="Malgun Gothic"/>
                <a:ea typeface="Malgun Gothic"/>
              </a:rPr>
              <a:t>임원 승인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983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Malgun Gothic"/>
                <a:ea typeface="Malgun Gothic"/>
              </a:rPr>
              <a:t>팀장 → 부서장 → 임원
3단계 결재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2E6CA4"/>
                </a:solidFill>
                <a:latin typeface="Malgun Gothic"/>
                <a:ea typeface="Malgun Gothic"/>
              </a:rPr>
              <a:t>* 전체 인보이스의 67%가 ₩100만 미만으로 자동 승인 대상  →  결재 대기 시간 평균 2일 → 0일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자체 구축이 SaaS 대비 TCO와 유연성에서 우위입니다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4480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A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자체 구축 (권장)</a:t>
                      </a:r>
                    </a:p>
                  </a:txBody>
                  <a:tcPr>
                    <a:solidFill>
                      <a:srgbClr val="1A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SaaS 솔루션</a:t>
                      </a:r>
                    </a:p>
                  </a:txBody>
                  <a:tcPr>
                    <a:solidFill>
                      <a:srgbClr val="1A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초기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₩1.5억 (일시)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₩0.3억/년 (구독)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3년 TCO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₩2.1억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₩3.6억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커스터마이징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무제한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제한적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데이터 보안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온프레미스 보관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외부 서버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ERP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직접 API 연동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제한적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AI 모델 선택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자유 (Claude 등)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벤더 종속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확장성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자유로운 확장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D2D2D"/>
                          </a:solidFill>
                          <a:latin typeface="Malgun Gothic"/>
                          <a:ea typeface="Malgun Gothic"/>
                        </a:rPr>
                        <a:t>플랜 종속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452628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526280"/>
            <a:ext cx="2560320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데이터 주권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민감 데이터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사내 보관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52628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4526280"/>
            <a:ext cx="2560320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비용 효율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983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3년 TCO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42% 절감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52628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526280"/>
            <a:ext cx="2560320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맞춤 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83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업무 특화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기능 구현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452628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4526280"/>
            <a:ext cx="2560320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기술 내재화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983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AI 역량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조직 축적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AI Agent가 처리하고 ERP가 자동 실행합니다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8" name="Chevron 7"/>
          <p:cNvSpPr/>
          <p:nvPr/>
        </p:nvSpPr>
        <p:spPr>
          <a:xfrm>
            <a:off x="457200" y="1234440"/>
            <a:ext cx="2011680" cy="777240"/>
          </a:xfrm>
          <a:prstGeom prst="chevron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인보이스
수신</a:t>
            </a:r>
          </a:p>
        </p:txBody>
      </p:sp>
      <p:sp>
        <p:nvSpPr>
          <p:cNvPr id="9" name="Chevron 8"/>
          <p:cNvSpPr/>
          <p:nvPr/>
        </p:nvSpPr>
        <p:spPr>
          <a:xfrm>
            <a:off x="2651760" y="1234440"/>
            <a:ext cx="2011680" cy="777240"/>
          </a:xfrm>
          <a:prstGeom prst="chevron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Claude
Vision AI</a:t>
            </a:r>
          </a:p>
        </p:txBody>
      </p:sp>
      <p:sp>
        <p:nvSpPr>
          <p:cNvPr id="10" name="Chevron 9"/>
          <p:cNvSpPr/>
          <p:nvPr/>
        </p:nvSpPr>
        <p:spPr>
          <a:xfrm>
            <a:off x="4846320" y="1234440"/>
            <a:ext cx="2011680" cy="777240"/>
          </a:xfrm>
          <a:prstGeom prst="chevron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데이터
검증/변환</a:t>
            </a:r>
          </a:p>
        </p:txBody>
      </p:sp>
      <p:sp>
        <p:nvSpPr>
          <p:cNvPr id="11" name="Chevron 10"/>
          <p:cNvSpPr/>
          <p:nvPr/>
        </p:nvSpPr>
        <p:spPr>
          <a:xfrm>
            <a:off x="7040880" y="1234440"/>
            <a:ext cx="2011680" cy="777240"/>
          </a:xfrm>
          <a:prstGeom prst="chevron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결재
워크플로우</a:t>
            </a:r>
          </a:p>
        </p:txBody>
      </p:sp>
      <p:sp>
        <p:nvSpPr>
          <p:cNvPr id="12" name="Chevron 11"/>
          <p:cNvSpPr/>
          <p:nvPr/>
        </p:nvSpPr>
        <p:spPr>
          <a:xfrm>
            <a:off x="9235440" y="1234440"/>
            <a:ext cx="2011680" cy="777240"/>
          </a:xfrm>
          <a:prstGeom prst="chevron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ERP
자동 전기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260604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2606040" cy="4572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SAP S/4HANA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80360"/>
            <a:ext cx="2331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RFC/BAPI 연동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FI 모듈 자동 전기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실시간 데이터 동기화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423160"/>
            <a:ext cx="260604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2423160"/>
            <a:ext cx="260604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560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Oracle EBS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880360"/>
            <a:ext cx="2331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REST API 연동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AP 모듈 자동 처리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멀티 통화 지원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423160"/>
            <a:ext cx="260604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2423160"/>
            <a:ext cx="2606040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560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더존 iCUBE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80360"/>
            <a:ext cx="2331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WebService 연동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회계 전표 자동 생성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국내 세무 최적화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2423160"/>
            <a:ext cx="260604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2423160"/>
            <a:ext cx="260604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560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Malgun Gothic"/>
                <a:ea typeface="Malgun Gothic"/>
              </a:rPr>
              <a:t>MS Dynamics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880360"/>
            <a:ext cx="2331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OData API 연동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매입 전표 자동화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글로벌 법인 지원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675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A3A5F"/>
                </a:solidFill>
                <a:latin typeface="Malgun Gothic"/>
                <a:ea typeface="Malgun Gothic"/>
              </a:rPr>
              <a:t>AI Agent가 인보이스를 자율적으로 처리하고, 검증 완료 후 ERP에 자동 전기합니다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검증된 기술 스택으로 확장 가능한 아키텍처를 구축합니다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E6CA4"/>
                </a:solidFill>
                <a:latin typeface="Malgun Gothic"/>
                <a:ea typeface="Malgun Gothic"/>
              </a:rPr>
              <a:t>프레젠테이션 계층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2D2D2D"/>
                </a:solidFill>
                <a:latin typeface="Malgun Gothic"/>
                <a:ea typeface="Malgun Gothic"/>
              </a:rPr>
              <a:t>React 18  |  TypeScript  |  Tailwind CSS  |  Chart.js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2240280"/>
            <a:ext cx="320040" cy="320040"/>
          </a:xfrm>
          <a:prstGeom prst="down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A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73152" cy="10058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3A5F"/>
                </a:solidFill>
                <a:latin typeface="Malgun Gothic"/>
                <a:ea typeface="Malgun Gothic"/>
              </a:rPr>
              <a:t>API / 비즈니스 로직 계층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2D2D2D"/>
                </a:solidFill>
                <a:latin typeface="Malgun Gothic"/>
                <a:ea typeface="Malgun Gothic"/>
              </a:rPr>
              <a:t>FastAPI (Python)  |  JWT Auth  |  Rate Limiting  |  WebSocket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3429000"/>
            <a:ext cx="320040" cy="320040"/>
          </a:xfrm>
          <a:prstGeom prst="down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611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73152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D4A843"/>
                </a:solidFill>
                <a:latin typeface="Malgun Gothic"/>
                <a:ea typeface="Malgun Gothic"/>
              </a:rPr>
              <a:t>AI / ML 계층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2D2D2D"/>
                </a:solidFill>
                <a:latin typeface="Malgun Gothic"/>
                <a:ea typeface="Malgun Gothic"/>
              </a:rPr>
              <a:t>Claude Vision API  |  LangChain  |  Vector DB  |  Custom Models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43600" y="4617720"/>
            <a:ext cx="320040" cy="320040"/>
          </a:xfrm>
          <a:prstGeom prst="down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4800599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00599"/>
            <a:ext cx="73152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9203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E8B57"/>
                </a:solidFill>
                <a:latin typeface="Malgun Gothic"/>
                <a:ea typeface="Malgun Gothic"/>
              </a:rPr>
              <a:t>데이터 / 인프라 계층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57799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2D2D2D"/>
                </a:solidFill>
                <a:latin typeface="Malgun Gothic"/>
                <a:ea typeface="Malgun Gothic"/>
              </a:rPr>
              <a:t>PostgreSQL  |  Redis Cache  |  MinIO (S3)  |  Docker / K8s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엔터프라이즈급 보안으로 컴플라이언스를 충족합니다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6060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06040" cy="54864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85900" y="1508760"/>
            <a:ext cx="548640" cy="548640"/>
          </a:xfrm>
          <a:prstGeom prst="ellipse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3A5F"/>
                </a:solidFill>
                <a:latin typeface="Malgun Gothic"/>
                <a:ea typeface="Malgun Gothic"/>
              </a:rPr>
              <a:t>데이터 암호화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AES-256 저장 데이터 암호화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TLS 1.3 전송 구간 암호화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키 관리 시스템 (KMS)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인보이스 이미지 자동 마스킹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325880"/>
            <a:ext cx="26060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325880"/>
            <a:ext cx="2606040" cy="54864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4820" y="1508760"/>
            <a:ext cx="548640" cy="548640"/>
          </a:xfrm>
          <a:prstGeom prst="ellipse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945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E6CA4"/>
                </a:solidFill>
                <a:latin typeface="Malgun Gothic"/>
                <a:ea typeface="Malgun Gothic"/>
              </a:rPr>
              <a:t>접근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65176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RBAC 역할 기반 접근 제어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JWT + OAuth 2.0 인증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IP 화이트리스트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세션 타임아웃 관리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325880"/>
            <a:ext cx="26060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325880"/>
            <a:ext cx="260604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63740" y="1508760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1945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Malgun Gothic"/>
                <a:ea typeface="Malgun Gothic"/>
              </a:rPr>
              <a:t>감사 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모든 조회/수정 이력 기록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변경 불가 감사 로그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실시간 이상 행위 감지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월간 보안 리포트 자동 생성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325880"/>
            <a:ext cx="26060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1325880"/>
            <a:ext cx="2606040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52660" y="1508760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1945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Malgun Gothic"/>
                <a:ea typeface="Malgun Gothic"/>
              </a:rPr>
              <a:t>컴플라이언스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65176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전자세금계산서 법적 요건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개인정보보호법 (PIPA) 준수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내부회계관리제도 대응</a:t>
            </a:r>
          </a:p>
          <a:p>
            <a:pPr>
              <a:spcBef>
                <a:spcPts val="8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SOX / K-IFRS 감사 지원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6개월 4단계 로드맵으로 단계적 전환합니다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14</a:t>
            </a:r>
          </a:p>
        </p:txBody>
      </p:sp>
      <p:pic>
        <p:nvPicPr>
          <p:cNvPr id="8" name="Picture 7" descr="ppt_char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2560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379476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2606040" cy="54864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A3A5F"/>
                </a:solidFill>
                <a:latin typeface="Malgun Gothic"/>
                <a:ea typeface="Malgun Gothic"/>
              </a:rPr>
              <a:t>Phase 1  |  1~2개월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88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2D2D2D"/>
                </a:solidFill>
                <a:latin typeface="Malgun Gothic"/>
                <a:ea typeface="Malgun Gothic"/>
              </a:rPr>
              <a:t>기반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개발 환경 구축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DB 설계/마이그레이션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인증/권한 시스템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기본 UI 프레임워크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79476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3794760"/>
            <a:ext cx="2606040" cy="54864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931920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2E6CA4"/>
                </a:solidFill>
                <a:latin typeface="Malgun Gothic"/>
                <a:ea typeface="Malgun Gothic"/>
              </a:rPr>
              <a:t>Phase 2  |  2~3개월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1788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2D2D2D"/>
                </a:solidFill>
                <a:latin typeface="Malgun Gothic"/>
                <a:ea typeface="Malgun Gothic"/>
              </a:rPr>
              <a:t>AI 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617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Claude Vision 연동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데이터 추출 파이프라인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3단계 검증 엔진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대시보드 구현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79476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794760"/>
            <a:ext cx="260604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931920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D4A843"/>
                </a:solidFill>
                <a:latin typeface="Malgun Gothic"/>
                <a:ea typeface="Malgun Gothic"/>
              </a:rPr>
              <a:t>Phase 3  |  4~5개월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788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2D2D2D"/>
                </a:solidFill>
                <a:latin typeface="Malgun Gothic"/>
                <a:ea typeface="Malgun Gothic"/>
              </a:rPr>
              <a:t>ERP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17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ERP API 개발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승인 워크플로우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자동 전기 시스템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통합 테스트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79476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3794760"/>
            <a:ext cx="2606040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3931920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algun Gothic"/>
                <a:ea typeface="Malgun Gothic"/>
              </a:rPr>
              <a:t>Phase 4  |  5~6개월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1788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2D2D2D"/>
                </a:solidFill>
                <a:latin typeface="Malgun Gothic"/>
                <a:ea typeface="Malgun Gothic"/>
              </a:rPr>
              <a:t>전사 확대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617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파일럿 운영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사용자 교육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전사 롤아웃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2D2D2D"/>
                </a:solidFill>
                <a:latin typeface="Malgun Gothic"/>
                <a:ea typeface="Malgun Gothic"/>
              </a:rPr>
              <a:t>  모니터링/최적화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경쟁사가 따라올 수 없는 4가지 차별화 요소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2606040" cy="54864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3A5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Malgun Gothic"/>
                <a:ea typeface="Malgun Gothic"/>
              </a:rPr>
              <a:t>Claude Vision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233172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2240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최신 멀티모달 AI 엔진 적용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한국어 특화 인식 정확도 99.5%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비정형 문서도 구조화 가능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지속적 모델 업데이트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2344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234440"/>
            <a:ext cx="2606040" cy="54864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417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2E6CA4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9202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Malgun Gothic"/>
                <a:ea typeface="Malgun Gothic"/>
              </a:rPr>
              <a:t>자율형 AI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286000"/>
            <a:ext cx="233172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423160"/>
            <a:ext cx="2240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규칙 기반 + AI 판단 하이브리드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상황별 자동 에스컬레이션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학습 기반 예외 처리 개선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멀티 에이전트 협업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2344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234440"/>
            <a:ext cx="260604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17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D4A843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9202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Malgun Gothic"/>
                <a:ea typeface="Malgun Gothic"/>
              </a:rPr>
              <a:t>실시간 ERP 연동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286000"/>
            <a:ext cx="233172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423160"/>
            <a:ext cx="2240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4대 ERP 네이티브 연동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양방향 실시간 동기화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트랜잭션 무결성 보장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제로 다운타임 운영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23444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60" y="1234440"/>
            <a:ext cx="2606040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1417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2E8B57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19202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Malgun Gothic"/>
                <a:ea typeface="Malgun Gothic"/>
              </a:rPr>
              <a:t>엔드투엔드 자동화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2286000"/>
            <a:ext cx="233172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2423160"/>
            <a:ext cx="2240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수신→인식→검증→승인→전기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인적 개입 최소화 (6%)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예외 건만 사람이 처리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2D2D2D"/>
                </a:solidFill>
                <a:latin typeface="Malgun Gothic"/>
                <a:ea typeface="Malgun Gothic"/>
              </a:rPr>
              <a:t>  전 과정 감사 추적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</a:rPr>
              <a:t>4개 핵심 테이블로 데이터 무결성을 보장합니다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0664"/>
            <a:ext cx="18288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E0E0E0"/>
                </a:solidFill>
                <a:latin typeface="Malgun Gothic"/>
                <a:ea typeface="Malgun Gothic"/>
              </a:rPr>
              <a:t>AI Invoice Automation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D4A843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60604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A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606040" cy="73152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</a:rPr>
              <a:t>invoices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DDFF"/>
                </a:solidFill>
                <a:latin typeface="Malgun Gothic"/>
                <a:ea typeface="Malgun Gothic"/>
              </a:rPr>
              <a:t>인보이스 마스터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 i="0">
                <a:solidFill>
                  <a:srgbClr val="C0392B"/>
                </a:solidFill>
                <a:latin typeface="Arial"/>
                <a:ea typeface="Malgun Gothic"/>
              </a:rPr>
              <a:t>  id (PK)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E6CA4"/>
                </a:solidFill>
                <a:latin typeface="Arial"/>
                <a:ea typeface="Malgun Gothic"/>
              </a:rPr>
              <a:t>  vendor_id (FK)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invoice_number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amount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status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issue_date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due_date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81528" y="2560320"/>
            <a:ext cx="146304" cy="27432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46120" y="1188720"/>
            <a:ext cx="260604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E6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188720"/>
            <a:ext cx="2606040" cy="73152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23444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</a:rPr>
              <a:t>invoice_items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572768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DDFF"/>
                </a:solidFill>
                <a:latin typeface="Malgun Gothic"/>
                <a:ea typeface="Malgun Gothic"/>
              </a:rPr>
              <a:t>인보이스 항목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5740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 i="0">
                <a:solidFill>
                  <a:srgbClr val="C0392B"/>
                </a:solidFill>
                <a:latin typeface="Arial"/>
                <a:ea typeface="Malgun Gothic"/>
              </a:rPr>
              <a:t>  id (PK)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E6CA4"/>
                </a:solidFill>
                <a:latin typeface="Arial"/>
                <a:ea typeface="Malgun Gothic"/>
              </a:rPr>
              <a:t>  invoice_id (FK)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description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quantity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unit_price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amount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tax_rate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70448" y="2560320"/>
            <a:ext cx="146304" cy="27432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1188720"/>
            <a:ext cx="260604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188720"/>
            <a:ext cx="2606040" cy="7315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23444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</a:rPr>
              <a:t>vendors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572768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DDFF"/>
                </a:solidFill>
                <a:latin typeface="Malgun Gothic"/>
                <a:ea typeface="Malgun Gothic"/>
              </a:rPr>
              <a:t>거래처 마스터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05740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 i="0">
                <a:solidFill>
                  <a:srgbClr val="C0392B"/>
                </a:solidFill>
                <a:latin typeface="Arial"/>
                <a:ea typeface="Malgun Gothic"/>
              </a:rPr>
              <a:t>  id (PK)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name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business_number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contact_email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payment_terms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bank_account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status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59368" y="2560320"/>
            <a:ext cx="146304" cy="27432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23960" y="1188720"/>
            <a:ext cx="260604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60" y="1188720"/>
            <a:ext cx="2606040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123444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Malgun Gothic"/>
              </a:rPr>
              <a:t>approvals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572768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DDDFF"/>
                </a:solidFill>
                <a:latin typeface="Malgun Gothic"/>
                <a:ea typeface="Malgun Gothic"/>
              </a:rPr>
              <a:t>결재 이력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05740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 i="0">
                <a:solidFill>
                  <a:srgbClr val="C0392B"/>
                </a:solidFill>
                <a:latin typeface="Arial"/>
                <a:ea typeface="Malgun Gothic"/>
              </a:rPr>
              <a:t>  id (PK)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E6CA4"/>
                </a:solidFill>
                <a:latin typeface="Arial"/>
                <a:ea typeface="Malgun Gothic"/>
              </a:rPr>
              <a:t>  invoice_id (FK)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E6CA4"/>
                </a:solidFill>
                <a:latin typeface="Arial"/>
                <a:ea typeface="Malgun Gothic"/>
              </a:rPr>
              <a:t>  approver_id (FK)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status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level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approved_at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D2D2D"/>
                </a:solidFill>
                <a:latin typeface="Arial"/>
                <a:ea typeface="Malgun Gothic"/>
              </a:rPr>
              <a:t>  comment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algun Gothic"/>
                <a:ea typeface="Malgun Gothic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D4A843"/>
                </a:solidFill>
                <a:latin typeface="Malgun Gothic"/>
                <a:ea typeface="Malgun Gothic"/>
              </a:rPr>
              <a:t>AI 인보이스 자동화 시스템으로 업무 혁신을 시작하세요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E0E0E0"/>
                </a:solidFill>
                <a:latin typeface="Malgun Gothic"/>
                <a:ea typeface="Malgun Gothic"/>
              </a:rPr>
              <a:t>전략 기획팀  |  AI Innovation Division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E0E0E0"/>
                </a:solidFill>
                <a:latin typeface="Malgun Gothic"/>
                <a:ea typeface="Malgun Gothic"/>
              </a:rPr>
              <a:t>ai-invoice@company.com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914400" y="4114800"/>
            <a:ext cx="2743200" cy="2743200"/>
          </a:xfrm>
          <a:prstGeom prst="ellipse">
            <a:avLst/>
          </a:prstGeom>
          <a:solidFill>
            <a:srgbClr val="25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457200"/>
            <a:ext cx="2286000" cy="2286000"/>
          </a:xfrm>
          <a:prstGeom prst="ellipse">
            <a:avLst/>
          </a:prstGeom>
          <a:solidFill>
            <a:srgbClr val="25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