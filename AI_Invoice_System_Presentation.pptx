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9CF5"/>
                </a:solidFill>
                <a:latin typeface="Pretendard"/>
              </a:defRPr>
            </a:pPr>
            <a: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Pretendard"/>
              </a:defRPr>
            </a:pPr>
            <a:r>
              <a:t>AI Invoice</a:t>
            </a:r>
            <a:br/>
            <a:r>
              <a:t>Automation</a:t>
            </a:r>
            <a:br/>
            <a:r>
              <a:t>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371600" cy="27432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Pretendard"/>
              </a:defRPr>
            </a:pPr>
            <a:r>
              <a:t>AI 기반 인보이스 자동화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Pretendard"/>
              </a:defRPr>
            </a:pPr>
            <a:r>
              <a:t>경영진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2026년 3월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Pretendard"/>
              </a:defRPr>
            </a:pPr>
            <a:r>
              <a:t>시스템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91640"/>
            <a:ext cx="548640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b="0" sz="1500">
                <a:solidFill>
                  <a:srgbClr val="374151"/>
                </a:solidFill>
                <a:latin typeface="Pretendard"/>
              </a:defRPr>
            </a:pPr>
            <a:r>
              <a:t>PDF/이미지 인보이스를 AI가 자동 인식하고,</a:t>
            </a:r>
          </a:p>
          <a:p>
            <a:pPr algn="l">
              <a:spcAft>
                <a:spcPts val="600"/>
              </a:spcAft>
              <a:defRPr b="0" sz="1500">
                <a:solidFill>
                  <a:srgbClr val="374151"/>
                </a:solidFill>
                <a:latin typeface="Pretendard"/>
              </a:defRPr>
            </a:pPr>
            <a:r>
              <a:t>3단계 검증 → 승인 → 결제까지 추적하는</a:t>
            </a:r>
          </a:p>
          <a:p>
            <a:pPr algn="l">
              <a:spcAft>
                <a:spcPts val="600"/>
              </a:spcAft>
              <a:defRPr b="0" sz="1500">
                <a:solidFill>
                  <a:srgbClr val="374151"/>
                </a:solidFill>
                <a:latin typeface="Pretendard"/>
              </a:defRPr>
            </a:pPr>
            <a:r>
              <a:t>올인원 인보이스 자동화 시스템입니다.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291840"/>
            <a:ext cx="45720" cy="64008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310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AI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10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Claude AI 기반</a:t>
            </a:r>
            <a:br/>
            <a:r>
              <a:t>자동 텍스트 추출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77640"/>
            <a:ext cx="5029200" cy="4572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4160520"/>
            <a:ext cx="45720" cy="64008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178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3단계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788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글로벌 → 유형별</a:t>
            </a:r>
            <a:br/>
            <a:r>
              <a:t>→ 계약별 자동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846320"/>
            <a:ext cx="5029200" cy="4572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5029200"/>
            <a:ext cx="45720" cy="64008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5047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승인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0474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금액별 다단계</a:t>
            </a:r>
            <a:br/>
            <a:r>
              <a:t>자동 라우팅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715000"/>
            <a:ext cx="5029200" cy="4572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5897879"/>
            <a:ext cx="45720" cy="64008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91616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Pretendard"/>
              </a:defRPr>
            </a:pPr>
            <a:r>
              <a:t>결제 추적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91616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예약 → 완료</a:t>
            </a:r>
            <a:br/>
            <a:r>
              <a:t>전 과정 추적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현재 인보이스 처리는 수작업에 의존하여 비효율과 리스크가 누적되고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4가지 핵심 문제 영역 — 수동 입력, 검증 부재, 승인 지연, 감사 추적 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606040" cy="3840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2295144"/>
            <a:ext cx="258775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56032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786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수동 데이터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08960"/>
            <a:ext cx="224028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291840"/>
            <a:ext cx="36576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91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인보이스를 사람이 직접 읽고 시스템에 입력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31920"/>
            <a:ext cx="36576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31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건당 15~30분 소요 — 대량 처리 시 병목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572000"/>
            <a:ext cx="36576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72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오타, 숫자 오류, 날짜 실수 빈번 발생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212079"/>
            <a:ext cx="36576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120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담당자 퇴사 시 업무 공백 발생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286000"/>
            <a:ext cx="2606040" cy="3840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75304" y="2295144"/>
            <a:ext cx="25877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49040" y="25603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5786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검증 프로세스 부재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3108960"/>
            <a:ext cx="224028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40" y="3291840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291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금액 한도 초과 여부 미확인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3931920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3931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동일 인보이스 중복 결제 사전 감지 불가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4572000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4572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계약 단가 대비 청구 금액 비교 안 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5212079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52120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구매주문서(PO) 매칭 없이 승인 진행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286000"/>
            <a:ext cx="2606040" cy="3840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9944" y="2295144"/>
            <a:ext cx="25877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83680" y="25603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5786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승인 지연 &amp; 결제 누락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108960"/>
            <a:ext cx="224028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3291840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3291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승인권자 부재 시 승인 절차 멈춤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931920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3931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결제 기한 초과 → 연체 수수료 발생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572000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4572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승인 단계/기준이 명문화되지 않음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5212079"/>
            <a:ext cx="3657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52120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긴급 인보이스와 일반 인보이스 구분 불가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2286000"/>
            <a:ext cx="2606040" cy="3840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44584" y="2295144"/>
            <a:ext cx="258775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418320" y="256032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25786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감사 추적 불가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18320" y="3108960"/>
            <a:ext cx="224028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18320" y="3291840"/>
            <a:ext cx="36576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5480" y="3291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누가 언제 무엇을 변경했는지 기록 없음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3931920"/>
            <a:ext cx="36576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5480" y="3931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분쟁/감사 시 근거 자료 수집에 수일 소요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4572000"/>
            <a:ext cx="36576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55480" y="4572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인보이스 상태 변경 이력 미보존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5212079"/>
            <a:ext cx="36576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55480" y="52120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컴플라이언스 요구사항 충족 어려움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인보이스 수신부터 결제 완료까지 — 하나의 시스템으로 전 과정을 자동화합니다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69848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4864" cy="118872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b="0" sz="1300">
                <a:solidFill>
                  <a:srgbClr val="374151"/>
                </a:solidFill>
                <a:latin typeface="Pretendard"/>
              </a:defRPr>
            </a:pPr>
            <a:r>
              <a:t>PDF, 이미지, 이메일로 수신된 인보이스를 Claude AI(Anthropic)가 자동으로 텍스트를 추출하고,</a:t>
            </a:r>
          </a:p>
          <a:p>
            <a:pPr algn="l">
              <a:spcAft>
                <a:spcPts val="400"/>
              </a:spcAft>
              <a:defRPr b="0" sz="1300">
                <a:solidFill>
                  <a:srgbClr val="374151"/>
                </a:solidFill>
                <a:latin typeface="Pretendard"/>
              </a:defRPr>
            </a:pPr>
            <a:r>
              <a:t>글로벌 규칙 → 인보이스 유형별 규칙 → 벤더 계약 규칙의 3단계 자동 검증을 거친 뒤,</a:t>
            </a:r>
          </a:p>
          <a:p>
            <a:pPr algn="l">
              <a:spcAft>
                <a:spcPts val="400"/>
              </a:spcAft>
              <a:defRPr b="0" sz="1300">
                <a:solidFill>
                  <a:srgbClr val="374151"/>
                </a:solidFill>
                <a:latin typeface="Pretendard"/>
              </a:defRPr>
            </a:pPr>
            <a:r>
              <a:t>금액 구간별 다단계 승인 워크플로우를 통해 결제 예약 → 완료까지 추적합니다.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2011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08760" y="36576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Pretendard"/>
              </a:defRPr>
            </a:pPr>
            <a:r>
              <a:t>인보이스 수신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617720"/>
            <a:ext cx="14630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Gmail/Outlook 자동 수집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웹 파일 업로드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수동 직접 입력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88920" y="4754880"/>
            <a:ext cx="164592" cy="22860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71800" y="3840480"/>
            <a:ext cx="2011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49040" y="36576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Pretendard"/>
              </a:defRPr>
            </a:pPr>
            <a:r>
              <a:t>AI OCR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4617720"/>
            <a:ext cx="14630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4800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Claude AI 텍스트 추출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212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인보이스 유형 자동 분류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623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외화 자동 환산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029200" y="4754880"/>
            <a:ext cx="164592" cy="22860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12080" y="3840480"/>
            <a:ext cx="2011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89320" y="36576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Pretendard"/>
              </a:defRPr>
            </a:pPr>
            <a:r>
              <a:t>3단계 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4617720"/>
            <a:ext cx="14630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800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금액 한도 / 중복 감지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5212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PO 매칭 / 단가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5623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계약 조건 대조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269480" y="4754880"/>
            <a:ext cx="164592" cy="22860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52360" y="3840480"/>
            <a:ext cx="2011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29600" y="36576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Pretendard"/>
              </a:defRPr>
            </a:pPr>
            <a:r>
              <a:t>승인 워크플로우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80" y="4617720"/>
            <a:ext cx="14630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4800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금액별 자동 라우팅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212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다단계 순차 승인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623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거부 시 재제출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509760" y="4754880"/>
            <a:ext cx="164592" cy="22860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92640" y="3840480"/>
            <a:ext cx="2011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69880" y="36576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Pretendard"/>
              </a:defRPr>
            </a:pPr>
            <a:r>
              <a:t>결제 &amp; 리포트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4617720"/>
            <a:ext cx="14630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4800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ACH/Wire/Check 추적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5212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대시보드 KPI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800" y="5623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Excel/PDF 내보내기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AI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Claude AI는 단순 OCR이 아닌 문서 문맥을 이해하여 정확도를 극대화합니다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Pretendard"/>
              </a:defRPr>
            </a:pPr>
            <a:r>
              <a:t>처리 과정 (6단계)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50292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880360"/>
            <a:ext cx="320040" cy="3200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인보이스 수신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36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이메일 자동 수집(Gmail/Outlook) 또는 웹에서 PDF/이미지 업로드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3200400"/>
            <a:ext cx="13716" cy="246888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320040" cy="3200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Claude AI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Anthropic Claude API가 문서를 읽고 텍스트 추출 + JSON 구조화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3767328"/>
            <a:ext cx="13716" cy="246888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014215"/>
            <a:ext cx="320040" cy="3200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325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자동 분류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7024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인보이스 유형 자동 판별 (PO, 운송, 서비스, 정기, 유틸리티, 전문서비스)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" y="4334255"/>
            <a:ext cx="13716" cy="246888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581144"/>
            <a:ext cx="320040" cy="3200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99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외화 환산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37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USD 외 통화 감지 시 당일 환율 자동 적용하여 USD로 변환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" y="4901184"/>
            <a:ext cx="13716" cy="246888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5148072"/>
            <a:ext cx="320040" cy="3200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OCR 리뷰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04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추출된 필드를 사용자가 확인/수정 가능 (수정 이력 자동 저장)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" y="5468112"/>
            <a:ext cx="13716" cy="246888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5715000"/>
            <a:ext cx="320040" cy="3200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733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검증 단계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971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확인 완료 시 3단계 자동 검증 엔진으로 전달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Pretendard"/>
              </a:defRPr>
            </a:pPr>
            <a:r>
              <a:t>핵심 차별점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651760"/>
            <a:ext cx="50292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2880360"/>
            <a:ext cx="5029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880360"/>
            <a:ext cx="45720" cy="73152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AI 문맥 이해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172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단순 글자 인식이 아닌 문서의 문맥을 이해합니다.</a:t>
            </a:r>
            <a:br/>
            <a:r>
              <a:t>표, 로고, 비정형 레이아웃도 처리 가능.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749039"/>
            <a:ext cx="5029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3749039"/>
            <a:ext cx="45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37947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OCR 실패 자동 대응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04164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AI 처리 실패 시 자동 재시도 (최대 3회).</a:t>
            </a:r>
            <a:br/>
            <a:r>
              <a:t>3회 모두 실패하면 수동 입력 모드로 전환 + 담당자 알림.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617720"/>
            <a:ext cx="5029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4617720"/>
            <a:ext cx="457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4663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수정 이력 완벽 보존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910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OCR 원본값과 사용자 수정값을 모두 저장.</a:t>
            </a:r>
            <a:br/>
            <a:r>
              <a:t>누가 언제 어떤 필드를 수정했는지 100% 추적.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486400"/>
            <a:ext cx="5029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5486400"/>
            <a:ext cx="4572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532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4가지 수신 채널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7790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Gmail 자동 수집 / Outlook 자동 수집 /</a:t>
            </a:r>
            <a:br/>
            <a:r>
              <a:t>웹 파일 업로드 / 수동 직접 입력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3계층 검증 엔진이 모든 인보이스를 자동으로 검증하여 리스크를 사전 차단합니다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347472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7472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Layer 1: 글로벌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Pretendard"/>
              </a:defRPr>
            </a:pPr>
            <a:r>
              <a:t>회사 전체 적용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54680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최대 인보이스 금액 한도 검사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593592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47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허용된 결제 조건 확인 (Net30 등)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32504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867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필수 서류 첨부 여부 (W-9 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471416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25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중복 인보이스 자동 감지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910328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64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결제 기한 초과 여부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40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연간 지출 한도 초과 검사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806440"/>
            <a:ext cx="310896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2A4A"/>
                </a:solidFill>
                <a:latin typeface="Pretendard"/>
              </a:defRPr>
            </a:pPr>
            <a:r>
              <a:t>시스템 기본 템플릿 + 회사별 커스터마이즈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251960" y="3931920"/>
            <a:ext cx="201168" cy="27432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80559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59" y="2286000"/>
            <a:ext cx="3474720" cy="64008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59" y="2286000"/>
            <a:ext cx="3474720" cy="640080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Layer 2: 유형별 규칙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26060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Pretendard"/>
              </a:defRPr>
            </a:pPr>
            <a:r>
              <a:t>인보이스 유형별 전문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39" y="3154680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1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PO: 구매주문서 번호 매칭 + 수량/단가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39" y="3593592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19" y="3547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운송: 운송 경로 유효성 + 요율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39" y="4032504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19" y="39867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서비스: 계약 단가 준수 + 납품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39" y="4471416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19" y="4425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정기: 고정 금액 일치 + 청구 주기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39" y="4910328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19" y="4864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유틸리티: 전월 대비 변동률 체크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39" y="5349240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19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전문서비스: 시간당 요율 상한 검증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39" y="5806440"/>
            <a:ext cx="310896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39" y="5897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76EF1"/>
                </a:solidFill>
                <a:latin typeface="Pretendard"/>
              </a:defRPr>
            </a:pPr>
            <a:r>
              <a:t>6가지 기본 유형 + 회사별 유형 추가 가능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8000999" y="3931920"/>
            <a:ext cx="201168" cy="27432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0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2286000"/>
            <a:ext cx="347472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29600" y="2286000"/>
            <a:ext cx="3474720" cy="6400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Layer 3: 계약 규칙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6060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Pretendard"/>
              </a:defRPr>
            </a:pPr>
            <a:r>
              <a:t>벤더별 계약 조건 자동 대조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154680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계약 단가 vs 청구 단가 비교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3593592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3547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허용 오차 범위(%) 자동 적용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032504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39867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건당 최대 주문 금액 초과 검사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4471416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4425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허용 품목 카테고리 확인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4910328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4864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계약 유효기간 만료 여부 확인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0" y="5349240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계약 만료 사전 경고 알림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5806440"/>
            <a:ext cx="310896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5897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59669"/>
                </a:solidFill>
                <a:latin typeface="Pretendard"/>
              </a:defRPr>
            </a:pPr>
            <a:r>
              <a:t>벤더별 복수 계약 관리 / 계약 없으면 SKIP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CORE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4가지 핵심 역량이 인보이스 처리의 모든 단계를 혁신합니다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4864" cy="192024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395728"/>
            <a:ext cx="347472" cy="347472"/>
          </a:xfrm>
          <a:prstGeom prst="ellipse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0487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AI OCR 자동 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498348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b="1" sz="1200">
                <a:solidFill>
                  <a:srgbClr val="111827"/>
                </a:solidFill>
                <a:latin typeface="Pretendard"/>
              </a:defRPr>
            </a:pPr>
            <a:r>
              <a:t>Claude AI (Anthropic) 기반 최신 AI OCR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PDF, 이미지, 이메일 본문에서 텍스트 자동 추출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인보이스 유형 자동 분류 (6가지 기본 유형)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외화 인보이스 → USD 자동 환산 (환율 API 연동)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OCR 결과 사용자 확인/수정 + 수정 이력 자동 보존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8600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286000"/>
            <a:ext cx="54864" cy="1920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2395728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40487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3단계 검증 엔진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788920"/>
            <a:ext cx="498348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b="1" sz="1200">
                <a:solidFill>
                  <a:srgbClr val="111827"/>
                </a:solidFill>
                <a:latin typeface="Pretendard"/>
              </a:defRPr>
            </a:pPr>
            <a:r>
              <a:t>글로벌 → 유형별 → 계약별 3계층 자동 검증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중복 인보이스, 금액 한도, PO 매칭 자동 감지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PASS / WARNING / FAIL 결과별 자동 분기 처리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검증 실패 시 Override 기능 — 사유 필수 기록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시스템 템플릿 제공 + 회사별 규칙 커스터마이즈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434840"/>
            <a:ext cx="54864" cy="1920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544568"/>
            <a:ext cx="347472" cy="34747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5371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승인 워크플로우 자동화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937760"/>
            <a:ext cx="498348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b="1" sz="1200">
                <a:solidFill>
                  <a:srgbClr val="111827"/>
                </a:solidFill>
                <a:latin typeface="Pretendard"/>
              </a:defRPr>
            </a:pPr>
            <a:r>
              <a:t>금액 구간별 다단계 승인 자동 라우팅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역할 기반 배정 (Approver, Company Admin)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선착순 승인 + 이메일/인앱 알림 자동 발송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거부 시 사유 기록 + 재제출 가능 (이력 보존)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Fallback: 설정 없으면 Company Admin 단독 승인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43484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434840"/>
            <a:ext cx="54864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7960" y="4544568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55371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Pretendard"/>
              </a:defRPr>
            </a:pPr>
            <a:r>
              <a:t>멀티테넌트 아키텍처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4937760"/>
            <a:ext cx="498348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02920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b="1" sz="1200">
                <a:solidFill>
                  <a:srgbClr val="111827"/>
                </a:solidFill>
                <a:latin typeface="Pretendard"/>
              </a:defRPr>
            </a:pPr>
            <a:r>
              <a:t>하나의 시스템으로 다수 회사 동시 운영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Row-level 격리 — company_id 기반 데이터 분리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모든 API에 회사 컨텍스트 미들웨어 자동 적용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Super Admin: 전체 회사 관리 + 공용 벤더 풀</a:t>
            </a:r>
          </a:p>
          <a:p>
            <a:pPr algn="l">
              <a:spcAft>
                <a:spcPts val="300"/>
              </a:spcAft>
              <a:defRPr b="0" sz="1100">
                <a:solidFill>
                  <a:srgbClr val="6B7280"/>
                </a:solidFill>
                <a:latin typeface="Pretendard"/>
              </a:defRPr>
            </a:pPr>
            <a:r>
              <a:t>5단계 역할 체계 (Super Admin → Viewer)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AS-IS vs TO-BE: 전 영역에서 근본적인 개선이 이루어집니다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92608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항목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286000"/>
            <a:ext cx="3931920" cy="4572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331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AS-IS  (현행)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286000"/>
            <a:ext cx="3657600" cy="4572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TO-BE  (도입 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10698480" cy="411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07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인보이스 처리 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07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Pretendard"/>
              </a:defRPr>
            </a:pPr>
            <a:r>
              <a:t>건당 15~30분 (수동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9077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Pretendard"/>
              </a:defRPr>
            </a:pPr>
            <a:r>
              <a:t>건당 1~3분 (AI 자동 인식)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82696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55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데이터 입력 오류율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355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Pretendard"/>
              </a:defRPr>
            </a:pPr>
            <a:r>
              <a:t>5~10% (사람 실수)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3558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Pretendard"/>
              </a:defRPr>
            </a:pPr>
            <a:r>
              <a:t>0.5% 미만 (AI + 사용자 확인)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30752"/>
            <a:ext cx="10698480" cy="411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039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검증 프로세스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8039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Pretendard"/>
              </a:defRPr>
            </a:pPr>
            <a:r>
              <a:t>없음 또는 수동 체크리스트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8039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Pretendard"/>
              </a:defRPr>
            </a:pPr>
            <a:r>
              <a:t>3단계 자동 검증 (100% 적용)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78808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중복 결제 방지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Pretendard"/>
              </a:defRPr>
            </a:pPr>
            <a:r>
              <a:t>사후 발견 (이미 결제 완료)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Pretendard"/>
              </a:defRPr>
            </a:pPr>
            <a:r>
              <a:t>사전 자동 차단 (등록 시점)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626864"/>
            <a:ext cx="10698480" cy="411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승인 소요 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7000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Pretendard"/>
              </a:defRPr>
            </a:pPr>
            <a:r>
              <a:t>평균 2~5일 (이메일 확인)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7000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Pretendard"/>
              </a:defRPr>
            </a:pPr>
            <a:r>
              <a:t>수시간 (자동 라우팅 + 알림)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48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PO 매칭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148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Pretendard"/>
              </a:defRPr>
            </a:pPr>
            <a:r>
              <a:t>수동 대조 또는 미실시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1480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Pretendard"/>
              </a:defRPr>
            </a:pPr>
            <a:r>
              <a:t>자동 매칭 + 초과 청구 감지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522976"/>
            <a:ext cx="10698480" cy="4114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96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감사 대응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5596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Pretendard"/>
              </a:defRPr>
            </a:pPr>
            <a:r>
              <a:t>자료 수집에 수일 소요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5961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Pretendard"/>
              </a:defRPr>
            </a:pPr>
            <a:r>
              <a:t>즉시 조회 (이력 영구 보존)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971031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04418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멀티 회사 운영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604418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  <a:latin typeface="Pretendard"/>
              </a:defRPr>
            </a:pPr>
            <a:r>
              <a:t>회사별 별도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604418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Pretendard"/>
              </a:defRPr>
            </a:pPr>
            <a:r>
              <a:t>하나의 시스템, 완전 격리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도입 시 처리 시간 90% 절감, 데이터 정확도 99.5%, 중복 결제 Zero를 달성합니다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606040" cy="3931920"/>
          </a:xfrm>
          <a:prstGeom prst="roundRect">
            <a:avLst/>
          </a:prstGeom>
          <a:solidFill>
            <a:srgbClr val="DBE8FD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76EF1"/>
                </a:solidFill>
                <a:latin typeface="Pretendard"/>
              </a:defRPr>
            </a:pPr>
            <a:r>
              <a:t>90%+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처리 시간 절감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840480"/>
            <a:ext cx="16916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수동 입력 15~30분 → AI 자동 1~3분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3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대량 인보이스 처리에서 극적인 효율 향상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담당자 의존도 제거로 업무 연속성 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286000"/>
            <a:ext cx="2606040" cy="3931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59669"/>
                </a:solidFill>
                <a:latin typeface="Pretendard"/>
              </a:defRPr>
            </a:pPr>
            <a:r>
              <a:t>99.5%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데이터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840480"/>
            <a:ext cx="16916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40233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AI OCR + 사용자 확인 이중 체크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66343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3단계 자동 검증으로 오류 사전 차단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3035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수정 이력 100% 보존으로 신뢰성 보장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286000"/>
            <a:ext cx="2606040" cy="3931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C2626"/>
                </a:solidFill>
                <a:latin typeface="Pretendard"/>
              </a:defRPr>
            </a:pPr>
            <a:r>
              <a:t>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중복 결제 사고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840480"/>
            <a:ext cx="16916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인보이스 등록 시점에 중복 자동 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66343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동일 벤더/금액/날짜 조합 교차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035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사후 발견이 아닌 사전 차단으로 전환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286000"/>
            <a:ext cx="2606040" cy="3931920"/>
          </a:xfrm>
          <a:prstGeom prst="roundRect">
            <a:avLst/>
          </a:prstGeom>
          <a:solidFill>
            <a:srgbClr val="DBE8FD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2A4A"/>
                </a:solidFill>
                <a:latin typeface="Pretendard"/>
              </a:defRPr>
            </a:pPr>
            <a:r>
              <a:t>즉시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3832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Pretendard"/>
              </a:defRPr>
            </a:pPr>
            <a:r>
              <a:t>감사 대응 가능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3840480"/>
            <a:ext cx="169164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0233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모든 변경사항 자동 기록 (IP, 사용자)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66343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변경 전/후 값 JSONB 영구 보존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3035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컴플라이언스 요구사항 즉시 충족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금액 구간별 자동 라우팅과 결제 상태 추적으로 프로세스를 완전히 통제합니다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Pretendard"/>
              </a:defRPr>
            </a:pPr>
            <a:r>
              <a:t>금액별 다단계 승인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50292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5029200" cy="640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45720" cy="64008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6EF1"/>
                </a:solidFill>
                <a:latin typeface="Pretendard"/>
              </a:defRPr>
            </a:pPr>
            <a:r>
              <a:t>$0 ~ $5,000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Approver 1명 승인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029200" cy="640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4572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Pretendard"/>
              </a:defRPr>
            </a:pPr>
            <a:r>
              <a:t>$5,001 ~ $50,000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Step 1: Approver → Step 2: Company Admin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5029200" cy="640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4572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Pretendard"/>
              </a:defRPr>
            </a:pPr>
            <a:r>
              <a:t>$50,001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Company Admin 단독 승인 (최고 권한)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50292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b="0" sz="1000">
                <a:solidFill>
                  <a:srgbClr val="374151"/>
                </a:solidFill>
                <a:latin typeface="Pretendard"/>
              </a:defRPr>
            </a:pPr>
            <a:r>
              <a:t>역할 기반 배정 — 해당 역할 보유 유저 전원에게 알림, 선착순 처리</a:t>
            </a:r>
          </a:p>
          <a:p>
            <a:pPr algn="l">
              <a:spcAft>
                <a:spcPts val="300"/>
              </a:spcAft>
              <a:defRPr b="0" sz="1000">
                <a:solidFill>
                  <a:srgbClr val="374151"/>
                </a:solidFill>
                <a:latin typeface="Pretendard"/>
              </a:defRPr>
            </a:pPr>
            <a:r>
              <a:t>거부 시 사유 기록 필수 + 수정 후 재제출 가능 (이력 완전 보존)</a:t>
            </a:r>
          </a:p>
          <a:p>
            <a:pPr algn="l">
              <a:spcAft>
                <a:spcPts val="300"/>
              </a:spcAft>
              <a:defRPr b="0" sz="1000">
                <a:solidFill>
                  <a:srgbClr val="374151"/>
                </a:solidFill>
                <a:latin typeface="Pretendard"/>
              </a:defRPr>
            </a:pPr>
            <a:r>
              <a:t>승인 설정 미등록 시 Fallback: Company Admin 단독 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Pretendard"/>
              </a:defRPr>
            </a:pPr>
            <a:r>
              <a:t>결제 추적 &amp; 상태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51760"/>
            <a:ext cx="50292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2880360"/>
            <a:ext cx="5029200" cy="640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3017520"/>
            <a:ext cx="109728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926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승인 완료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Company Admin이 결제 방법 선택 + 예약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520440"/>
            <a:ext cx="18288" cy="13716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5029200" cy="640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37960" y="3794760"/>
            <a:ext cx="1097280" cy="320040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SCHEDULED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703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결제 예약됨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977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결제일 7일 전부터 자동 알림 발송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4297680"/>
            <a:ext cx="18288" cy="13716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4434840"/>
            <a:ext cx="5029200" cy="640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37960" y="457200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PAID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480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결제 완료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거래 참조번호, 은행명, 일자 기록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303520"/>
            <a:ext cx="50292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349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b="0" sz="1000">
                <a:solidFill>
                  <a:srgbClr val="374151"/>
                </a:solidFill>
                <a:latin typeface="Pretendard"/>
              </a:defRPr>
            </a:pPr>
            <a:r>
              <a:t>지원 결제 수단: ACH, Wire, Check, Credit Card</a:t>
            </a:r>
          </a:p>
          <a:p>
            <a:pPr algn="l">
              <a:spcAft>
                <a:spcPts val="300"/>
              </a:spcAft>
              <a:defRPr b="0" sz="1000">
                <a:solidFill>
                  <a:srgbClr val="374151"/>
                </a:solidFill>
                <a:latin typeface="Pretendard"/>
              </a:defRPr>
            </a:pPr>
            <a:r>
              <a:t>결제 취소(VOID) 시 PO 잔액 자동 역산 처리</a:t>
            </a:r>
          </a:p>
          <a:p>
            <a:pPr algn="l">
              <a:spcAft>
                <a:spcPts val="300"/>
              </a:spcAft>
              <a:defRPr b="0" sz="1000">
                <a:solidFill>
                  <a:srgbClr val="374151"/>
                </a:solidFill>
                <a:latin typeface="Pretendard"/>
              </a:defRPr>
            </a:pPr>
            <a:r>
              <a:t>모든 결제 상태 변경은 감사 로그에 자동 기록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3-Tier 아키텍처 — 검증된 기술 스택으로 확장성과 안정성을 확보합니다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698480" cy="1234440"/>
          </a:xfrm>
          <a:prstGeom prst="roundRect">
            <a:avLst/>
          </a:prstGeom>
          <a:solidFill>
            <a:srgbClr val="DBE8FD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4864" cy="123444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423160"/>
            <a:ext cx="1280160" cy="320040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41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사용자 인터페이스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92608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53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Next.js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535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React 기반 SPA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92608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953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535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타입 안전성 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9" y="292608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19" y="2953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Tailwind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19" y="29535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반응형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92608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953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Zustand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535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클라이언트 상태 관리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19" y="292608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2953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React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9" y="29535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서버 데이터 캐싱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520440"/>
            <a:ext cx="274320" cy="228600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3749039"/>
            <a:ext cx="10698480" cy="1234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749039"/>
            <a:ext cx="54864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" y="3886199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9044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비즈니스 로직 &amp;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389119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41655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FastAPI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416551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비동기 REST 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0" y="4389119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441655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SQLAlchemy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416551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ORM + 마이그레이션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79" y="4389119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19" y="441655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JWT + RBAC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19" y="4416551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인증 + 5단계 권한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4389119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41655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Celery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416551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비동기 작업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19" y="4389119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59" y="441655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Claude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59" y="4416551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OCR + 문서 분석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4983479"/>
            <a:ext cx="274320" cy="228600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1520" y="5212080"/>
            <a:ext cx="1069848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5212080"/>
            <a:ext cx="54864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5840" y="5349240"/>
            <a:ext cx="128016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DATA &amp; INFRA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5367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Pretendard"/>
              </a:defRPr>
            </a:pPr>
            <a:r>
              <a:t>데이터 저장소 &amp; 인프라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5840" y="585216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PostgreSQL 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5879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22개 테이블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08960" y="585216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Redis 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5879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캐시 + 메시지 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12079" y="585216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19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AWS S3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19" y="5879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파일 저장소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0" y="585216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Sentry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5879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실시간 오류 추적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18319" y="5852160"/>
            <a:ext cx="19202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759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Pretendard"/>
              </a:defRPr>
            </a:pPr>
            <a:r>
              <a:t>Docker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59" y="58795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컨테이너 오케스트레이션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엔터프라이즈급 보안 체계로 데이터 보호와 컴플라이언스 요구사항을 충족합니다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3474720" cy="36576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395728"/>
            <a:ext cx="320040" cy="320040"/>
          </a:xfrm>
          <a:prstGeom prst="ellipse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14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인증 &amp; 세션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8892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JWT 이중 토큰 (Access 1h + Refresh 7d)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64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bcrypt 비밀번호 해싱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484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로그인 시 IP, User Agent 기록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28600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2286000"/>
            <a:ext cx="34747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19" y="2395728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2414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데이터 암호화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19" y="278892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19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AES-256 암호화 (ACH 계좌/라우팅)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3264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AWS S3 Pre-signed URL (15분 만료)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36484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전송 구간 TLS 암호화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28600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286000"/>
            <a:ext cx="3474720" cy="365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2395728"/>
            <a:ext cx="320040" cy="3200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414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접근 제어 (RBAC)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278892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5단계 역할: Super Admin → 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264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API 엔드포인트별 권한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6484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역할별 데이터 접근 범위 제한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891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389120"/>
            <a:ext cx="34747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" y="4498848"/>
            <a:ext cx="320040" cy="3200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517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감사 추적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489204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모든 변경 100% 기록 (영구 보존)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67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변경 전/후 값 JSONB 저장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51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IP, User Agent 자동 기록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59" y="43891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59" y="4389120"/>
            <a:ext cx="34747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17719" y="4498848"/>
            <a:ext cx="320040" cy="3200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199" y="4517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데이터 격리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19" y="489204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19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Row-level 멀티테넌트 격리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19" y="5367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API 미들웨어 자동 필터링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19" y="5751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회사 간 데이터 접근 원천 차단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43891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4389120"/>
            <a:ext cx="3474720" cy="36576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66760" y="4498848"/>
            <a:ext cx="320040" cy="320040"/>
          </a:xfrm>
          <a:prstGeom prst="ellipse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517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Pretendard"/>
              </a:defRPr>
            </a:pPr>
            <a:r>
              <a:t>실시간 모니터링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489204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Sentry 오류 추적 (Critical 즉시 알림)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367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DB 슬로우 쿼리 감지 (&gt;1초)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5751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일일 요약 리포트 자동 발송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10단계 점진적 개발 — Phase 1 완료, 전체 DB 설계 확정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69848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4864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t>전체 진행률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560320"/>
            <a:ext cx="9966960" cy="1371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560320"/>
            <a:ext cx="996696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542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Pretendard"/>
              </a:defRPr>
            </a:pPr>
            <a:r>
              <a:t>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201168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291840"/>
            <a:ext cx="82296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3291840"/>
            <a:ext cx="86868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59669"/>
                </a:solidFill>
                <a:latin typeface="Pretendard"/>
              </a:defRPr>
            </a:pPr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인프라 셋업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Docker, FastAPI, DB/Redis/Celery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JWT 인증 모듈 구현 완료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20040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17520" y="329184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회사 &amp; 사용자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DB 모델 + 회사/사용자 CRUD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인증 API 개발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20040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12080" y="329184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거래처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벤더 마스터 + EIN 중복 감지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ACH 암호화 저장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199" y="320040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06639" y="329184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39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세금 &amp; 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39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세율 관리 + PO 마스터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39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초과 청구 감지 로직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0" y="320040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0" y="329184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검증 엔진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3단계 검증 엔진 개발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규칙 관리 UI + 유형별 규칙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892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" y="498348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OCR 처리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Claude AI OCR 연동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OCR 리뷰 화면 + 환율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6080" y="4892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017520" y="498348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승인 &amp; 결제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승인 워크플로우 개발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결제 추적 + 알림 서비스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20640" y="4892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212080" y="498348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이메일 연동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Gmail/Outlook API 연동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인보이스 자동 분류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199" y="4892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06639" y="498348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39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대시보드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39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KPI 대시보드 개발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39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Excel/PDF 출력 + 감사 뷰어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09760" y="489204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601200" y="4983480"/>
            <a:ext cx="822960" cy="25603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Pretendard"/>
              </a:defRPr>
            </a:pPr>
            <a:r>
              <a:t>Phase 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Pretendard"/>
              </a:defRPr>
            </a:pPr>
            <a:r>
              <a:t>배포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보안 감사 + 최종 테스트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Pretendard"/>
              </a:defRPr>
            </a:pPr>
            <a:r>
              <a:t>프로덕션 배포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3가지 핵심 차별점이 기존 솔루션과의 근본적인 차이를 만듭니다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3474720" cy="86868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474720" cy="868680"/>
          </a:xfrm>
          <a:prstGeom prst="round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57400" y="235915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6EF1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최신 AI 기술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DDEE"/>
                </a:solidFill>
                <a:latin typeface="Pretendard"/>
              </a:defRPr>
            </a:pPr>
            <a:r>
              <a:t>Claude AI (Anthropic) 기반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단순 OCR이 아닌 문서 문맥을 이해하는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822192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76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표, 로고, 비정형 레이아웃도 정확하게 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261104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153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인보이스 유형을 AI가 자동으로 분류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00016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6542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외화 인보이스 자동 감지 + 환율 적용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138928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93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OCR 실패 시 자동 재시도 (최대 3회)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36576" cy="228600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지속적인 AI 모델 업데이트 혜택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2286000"/>
            <a:ext cx="3474720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80559" y="2286000"/>
            <a:ext cx="3474720" cy="8686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06439" y="235915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9669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유연한 규칙 엔진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39" y="294436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DDEE"/>
                </a:solidFill>
                <a:latin typeface="Pretendard"/>
              </a:defRPr>
            </a:pPr>
            <a:r>
              <a:t>3계층 검증 + 완전 커스터마이즈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39" y="3383280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19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시스템 기본 규칙 템플릿 제공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39" y="3822192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19" y="3776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회사별 규칙 추가/수정/비활성화 가능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39" y="4261104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19" y="42153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PO 매칭 + 초과 청구 실시간 감지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39" y="4700016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19" y="46542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동시성 제어 (SELECT FOR UPDATE)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39" y="5138928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19" y="5093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연간 지출 한도 회사/벤더/유형별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39" y="5577840"/>
            <a:ext cx="36576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19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검증 실패 시 Override 기능 (사유 필수)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2286000"/>
            <a:ext cx="34747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0" y="2286000"/>
            <a:ext cx="347472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555480" y="235915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2A4A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엔드투엔드 자동화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94436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DDEE"/>
                </a:solidFill>
                <a:latin typeface="Pretendard"/>
              </a:defRPr>
            </a:pPr>
            <a:r>
              <a:t>수신 → 결제 완료까지 단일 시스템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383280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이메일 자동 수집 (Gmail + Outlook)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3822192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3776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OCR → 검증 → 승인 → 결제 전체 자동화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261104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42153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Excel/PDF 리포트 자동 생성 (비동기)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4700016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46542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대시보드 KPI 실시간 모니터링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5138928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0" y="5093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100% 감사 추적 — 영구 보존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5577840"/>
            <a:ext cx="36576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Pretendard"/>
              </a:defRPr>
            </a:pPr>
            <a:r>
              <a:t>외부 도구 의존도 최소화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Pretendard"/>
              </a:defRPr>
            </a:pPr>
            <a:r>
              <a:t>22개 테이블 — PostgreSQL 15 기반 완전한 데이터 모델 설계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Pretendard"/>
              </a:defRPr>
            </a:pPr>
            <a:r>
              <a:t>UUID Primary Key  |  멀티테넌트 Row-level 격리  |  JSONB 활용  |  Alembic 마이그레이션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1069848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3474720" cy="365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Pretendard"/>
              </a:defRPr>
            </a:pPr>
            <a:r>
              <a:t>핵심 (5)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83464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07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companies — 회사 마스터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63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users — 사용자 (5단계 역할)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198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vendors — 거래처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75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invoices — 인보이스 마스터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invoice_line_items — 라인 아이템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468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2468880"/>
            <a:ext cx="3474720" cy="36576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6EF1"/>
                </a:solidFill>
                <a:latin typeface="Pretendard"/>
              </a:defRPr>
            </a:pPr>
            <a:r>
              <a:t>검증 &amp; 규칙 (5)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19" y="283464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2907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global_validation_rules — 글로벌 규칙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3163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type_rule_sets — 유형별 규칙 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34198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type_rule_conditions — 규칙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3675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vendor_contracts — 벤더 계약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3931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validation_results — 검증 결과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468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468880"/>
            <a:ext cx="34747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Pretendard"/>
              </a:defRPr>
            </a:pPr>
            <a:r>
              <a:t>승인 &amp; 결제 (5)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283464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2907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invoice_approvals — 승인 이력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163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approval_settings — 승인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4198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invoice_payments — 결제 추적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675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purchase_orders — 구매주문서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931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purchase_order_lines — PO 라인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57200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572000"/>
            <a:ext cx="34747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645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Pretendard"/>
              </a:defRPr>
            </a:pPr>
            <a:r>
              <a:t>마스터 데이터 (4)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493776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010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invoice_types — 유형 (6종)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2669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tax_rates — State별 세율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522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exchange_rates — 환율 (일일)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779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ocr_corrections — OCR 수정 이력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457200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80559" y="4572000"/>
            <a:ext cx="34747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19" y="4645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Pretendard"/>
              </a:defRPr>
            </a:pPr>
            <a:r>
              <a:t>시스템 (3)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19" y="4937760"/>
            <a:ext cx="320040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19" y="5010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audit_logs — 감사 로그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19" y="52669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notifications — 알림 (12종)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19" y="5522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  <a:latin typeface="Pretendard"/>
              </a:defRPr>
            </a:pPr>
            <a:r>
              <a:t>email_configurations — 이메일 설정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4572000"/>
            <a:ext cx="347472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8160" y="4572000"/>
            <a:ext cx="54864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4645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Pretendard"/>
              </a:defRPr>
            </a:pPr>
            <a:r>
              <a:t>설계 특징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60" y="4937760"/>
            <a:ext cx="3017520" cy="7315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22개 테이블 상세 컬럼 설계 완료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JSONB 활용 (규칙 config, 감사 로그)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UNIQUE 제약으로 데이터 무결성 보장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B7280"/>
                </a:solidFill>
                <a:latin typeface="Pretendard"/>
              </a:defRPr>
            </a:pPr>
            <a:r>
              <a:t>Alembic 마이그레이션 스키마 관리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Pretendard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920240"/>
            <a:ext cx="2103120" cy="18288"/>
          </a:xfrm>
          <a:prstGeom prst="rect">
            <a:avLst/>
          </a:prstGeom>
          <a:solidFill>
            <a:srgbClr val="276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Pretendard"/>
              </a:defRPr>
            </a:pPr>
            <a:r>
              <a:t>AI Invoice Automation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9CF5"/>
                </a:solidFill>
                <a:latin typeface="Pretendard"/>
              </a:defRPr>
            </a:pPr>
            <a:r>
              <a:t>AI가 대신하고, 사람은 판단에 집중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A9CF5"/>
                </a:solidFill>
                <a:latin typeface="Pretendard"/>
              </a:defRPr>
            </a:pPr>
            <a:r>
              <a:t>90%+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처리 시간 절감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A9CF5"/>
                </a:solidFill>
                <a:latin typeface="Pretendard"/>
              </a:defRPr>
            </a:pPr>
            <a:r>
              <a:t>99.5%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데이터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A9CF5"/>
                </a:solidFill>
                <a:latin typeface="Pretendard"/>
              </a:defRPr>
            </a:pPr>
            <a: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중복 결제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A9CF5"/>
                </a:solidFill>
                <a:latin typeface="Pretendard"/>
              </a:defRPr>
            </a:pPr>
            <a:r>
              <a:t>즉시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Pretendard"/>
              </a:defRPr>
            </a:pPr>
            <a:r>
              <a:t>감사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3891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2A4A"/>
                </a:solidFill>
                <a:latin typeface="Pretendard"/>
              </a:defRPr>
            </a:pPr>
            <a:r>
              <a:t>Q &amp;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212080"/>
            <a:ext cx="2103120" cy="13716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Pretendard"/>
              </a:defRPr>
            </a:pPr>
            <a:r>
              <a:t>질문이나 의견을 환영합니다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Pretendard"/>
              </a:defRPr>
            </a:pPr>
            <a:r>
              <a:t>시스템 데모  |  기술 상세  |  일정  |  어떤 질문이든 편하게 해주세요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698480" cy="9144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AI Invoice Automation System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6510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Pretendard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